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0"/>
  </p:notesMasterIdLst>
  <p:sldIdLst>
    <p:sldId id="256" r:id="rId2"/>
    <p:sldId id="260" r:id="rId3"/>
    <p:sldId id="257" r:id="rId4"/>
    <p:sldId id="258" r:id="rId5"/>
    <p:sldId id="259" r:id="rId6"/>
    <p:sldId id="261" r:id="rId7"/>
    <p:sldId id="262" r:id="rId8"/>
    <p:sldId id="273" r:id="rId9"/>
    <p:sldId id="274" r:id="rId10"/>
    <p:sldId id="275" r:id="rId11"/>
    <p:sldId id="276" r:id="rId12"/>
    <p:sldId id="277" r:id="rId13"/>
    <p:sldId id="278" r:id="rId14"/>
    <p:sldId id="279" r:id="rId15"/>
    <p:sldId id="280" r:id="rId16"/>
    <p:sldId id="281" r:id="rId17"/>
    <p:sldId id="282" r:id="rId18"/>
    <p:sldId id="285" r:id="rId19"/>
    <p:sldId id="284" r:id="rId20"/>
    <p:sldId id="283" r:id="rId21"/>
    <p:sldId id="286" r:id="rId22"/>
    <p:sldId id="289" r:id="rId23"/>
    <p:sldId id="290" r:id="rId24"/>
    <p:sldId id="291" r:id="rId25"/>
    <p:sldId id="292" r:id="rId26"/>
    <p:sldId id="263" r:id="rId27"/>
    <p:sldId id="287" r:id="rId28"/>
    <p:sldId id="288" r:id="rId29"/>
    <p:sldId id="264" r:id="rId30"/>
    <p:sldId id="272" r:id="rId31"/>
    <p:sldId id="271" r:id="rId32"/>
    <p:sldId id="294" r:id="rId33"/>
    <p:sldId id="295" r:id="rId34"/>
    <p:sldId id="296" r:id="rId35"/>
    <p:sldId id="298" r:id="rId36"/>
    <p:sldId id="297" r:id="rId37"/>
    <p:sldId id="269" r:id="rId38"/>
    <p:sldId id="270" r:id="rId3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2" roundtripDataSignature="AMtx7mhhhuhGjdxSZihv3VWfUV2Jn9QC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37" autoAdjust="0"/>
    <p:restoredTop sz="94694"/>
  </p:normalViewPr>
  <p:slideViewPr>
    <p:cSldViewPr snapToGrid="0">
      <p:cViewPr>
        <p:scale>
          <a:sx n="65" d="100"/>
          <a:sy n="65" d="100"/>
        </p:scale>
        <p:origin x="58" y="4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112"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11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14"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11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116" Type="http://schemas.openxmlformats.org/officeDocument/2006/relationships/tableStyles" Target="tableStyles.xml"/><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3867622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46" name="Google Shape;14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e7f44d30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01" name="Google Shape;101;g13e7f44d30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13e7f44d30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16" name="Google Shape;11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4</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5</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50746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79123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629AE49-52E7-3194-4012-FBEBE54B5DEA}"/>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E05381B9-46FB-98C5-123C-8F918376AC7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91189FC5-153E-7F1F-9386-FA9C02D7DB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771B75C-A29F-7E5A-F506-511208EEE7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09413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CA8C009-CEF0-CDCB-F6B1-F95D7D7B840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D9FABE42-FF67-2806-9675-F45E3B8AA73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2BD0BF45-B4BB-A6DF-C60A-E3F7B3F3CB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F738F0AA-3780-05CF-BECF-AED91B16110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48487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0B5B350-8F64-BBAC-49B5-9A15EFF2166D}"/>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E84C10C7-0250-F93C-14BB-8CD723AAA2D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638C582F-4DFA-7099-C8CE-ECA636D6503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DF77EE0-3DF4-1753-8BBD-ABF014031C4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78092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7C32F04-7B9C-758E-1BF8-3B67736A343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B16FBC5-D245-E4CF-31E6-B1122481846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359F14D-33E3-4C9A-05C6-8FE5FB39EF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469824B-8877-AAA3-3997-6A3EEB61C53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52475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EEC6360-E02F-CE3D-92D1-1CA1B60BFA0B}"/>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EE9BCFC-7335-C1A4-02C7-46B5709A16B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778F8CC0-6AC2-E3E8-E882-640D81F6AE1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8A5B698B-AAC0-2311-26A0-2C922F1EF6E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505010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CCFE7F6-BD46-1483-5268-C86076033AA3}"/>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84EB1DBD-AD94-E800-9DE2-8339C48BA1A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95AE88B2-F59D-8122-9B3B-C91DFC49F4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2D6CE8A5-6635-1F3C-378A-ABE0532E2EC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31069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F4EA1D8-9CCA-ABAF-81E2-5325F05A11A3}"/>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FE6221C7-2248-F756-5A02-6838A3EAECD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8C9A314-67BF-E351-3B96-EB93A0EB49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31C0C6B-5B0B-6AF0-688E-CB715B0E819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66882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F76EADE-CB05-9534-44C4-32165CD60459}"/>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1FEC4151-C88E-627C-1459-8995ABCCA46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5E92C22E-7961-46F2-011C-74EED7471B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38EEA99-C0FD-29EA-17CB-5DD4C3A7E9B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20154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37483DF-894E-D48A-8E37-404E5E85EE68}"/>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7771130-11A8-6B9D-A992-C3D65838F28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4548728D-A9B9-3F77-2910-C0DE4AECC6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254F16A8-F9FD-E3F2-75D6-686B5398F3F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66715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CE30B23-60FB-173C-0325-B1B3428AA15A}"/>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1FEF143-82C8-ECFD-0574-EDA7AC1FE21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DBA593F9-CCC1-9468-0A9D-100193AC63D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C8A89B7C-83C6-AEF7-A255-C829C241C30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2169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6D275BA-1970-3C9D-1FA3-CB5719BAD745}"/>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CD1D6630-551D-DB4A-82BC-8F202964A1E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574E7434-9B38-BB9A-DB8F-C35A98033F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B0FED230-5725-3F95-7862-F72B2539A93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59103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37FD9D8-2FCE-90D1-0B05-9264C3684C40}"/>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6199324A-FA6B-6996-E667-8DBD8B6387C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589AEC49-D79F-28D6-E427-7BCED12980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0FD8DBB6-6CB6-DBD0-3701-8C1532B321A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194221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EC0C0DF-22AC-85F1-2E93-B0627B026B42}"/>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279D336-4344-B9F8-14F1-7C0D166F945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E588B7C3-C011-43D7-E2E5-4F656158E1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B62790EE-6495-B876-BA04-268B0A9E0DC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04929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9A4AC02-2704-C38F-9718-5C2FCE83E7D9}"/>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56A88AC1-A4A9-35A4-BDE9-21147960CAC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E191FB8D-2BBB-7497-99D6-C35AF86346E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65C1881-7B9D-9D8A-1650-12D2728B399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70607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9AA136C-9B93-4BF3-C262-339AFCF12A4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47B60174-3E25-9E1D-D077-A3859ABD011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B6C691B-07CF-7610-96DC-E15EF45732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9CC5BA6-C136-1A82-8A5D-8513BFD9B7F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11810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FACA9B3-5D44-AA0B-7CE6-6D4B408E92C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E871BBAF-CE3D-98A7-B1AD-F30F37F9C0B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AC359F08-11D6-6E1D-87A4-F33ED33FF9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677E4D7D-7E02-C020-DF3A-2E8E544DE7D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749845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B9035BF-4324-68C5-AD65-A00F7206312F}"/>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B5904302-C150-ACFF-0908-212C4ED0D96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7D62C906-9714-AC09-8730-D99C7DD161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63D485A-D150-F085-0054-F214002E434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66006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ED57D06-2F62-AE70-1C06-3895341A74E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62B3FCC4-7713-998C-2CDD-F473DCA3B6D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AC60AEC6-2E45-0F62-1E01-63ECD1798E7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EFD0C051-89C7-A5A0-68DA-B8638F156B4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89126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56061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6B22AEF-C96A-F6C1-AF98-611970689B6D}"/>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0DC277FF-7E08-5618-F106-CDECDB62EED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028DDA5-2F40-B92F-FE7E-837D9D95EF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51855ED-F0D7-CF32-ECDF-7D6F4E5C0EF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76023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B959FA5-D457-A6B0-6410-0773BD0CD7A6}"/>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7E98535C-C2AC-B778-A25B-6E734C3DB06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96D435B9-3059-B817-3597-F5FA483A92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1D5F868E-A9ED-959F-00F9-3FDB0663070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410058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536455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F4A2118-67B3-5418-3426-5B507DA0F5D6}"/>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E54CAB2-E64E-F7CA-7971-B844E1711B4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8A91D25E-E345-16FE-5612-0C228C6BE3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6063046-CC36-C0D4-F152-9DF29D55723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287793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13147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444186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99497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7F70A785-156C-425F-A2D8-966122E547E5}" type="datetime3">
              <a:rPr lang="en-US" smtClean="0"/>
              <a:pPr/>
              <a:t>29 March 2026</a:t>
            </a:fld>
            <a:endParaRPr/>
          </a:p>
        </p:txBody>
      </p:sp>
      <p:sp>
        <p:nvSpPr>
          <p:cNvPr id="17" name="Google Shape;17;p2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0" name="Google Shape;20;p3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97742EA7-CD33-43EC-8EA7-47D30631274E}" type="datetime3">
              <a:rPr lang="en-US" smtClean="0"/>
              <a:pPr/>
              <a:t>29 March 2026</a:t>
            </a:fld>
            <a:endParaRPr/>
          </a:p>
        </p:txBody>
      </p:sp>
      <p:sp>
        <p:nvSpPr>
          <p:cNvPr id="22" name="Google Shape;22;p3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3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3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80"/>
              </a:spcBef>
              <a:spcAft>
                <a:spcPts val="0"/>
              </a:spcAft>
              <a:buClr>
                <a:schemeClr val="dk1"/>
              </a:buClr>
              <a:buSzPts val="2400"/>
              <a:buFont typeface="Times New Roman"/>
              <a:buNone/>
              <a:defRPr sz="2400"/>
            </a:lvl1pPr>
            <a:lvl2pPr lvl="1" algn="ctr">
              <a:lnSpc>
                <a:spcPct val="100000"/>
              </a:lnSpc>
              <a:spcBef>
                <a:spcPts val="400"/>
              </a:spcBef>
              <a:spcAft>
                <a:spcPts val="0"/>
              </a:spcAft>
              <a:buClr>
                <a:schemeClr val="dk1"/>
              </a:buClr>
              <a:buSzPts val="2000"/>
              <a:buFont typeface="Times New Roman"/>
              <a:buNone/>
              <a:defRPr sz="2000"/>
            </a:lvl2pPr>
            <a:lvl3pPr lvl="2" algn="ctr">
              <a:lnSpc>
                <a:spcPct val="100000"/>
              </a:lnSpc>
              <a:spcBef>
                <a:spcPts val="360"/>
              </a:spcBef>
              <a:spcAft>
                <a:spcPts val="0"/>
              </a:spcAft>
              <a:buClr>
                <a:schemeClr val="dk1"/>
              </a:buClr>
              <a:buSzPts val="1800"/>
              <a:buFont typeface="Times New Roman"/>
              <a:buNone/>
              <a:defRPr sz="1800"/>
            </a:lvl3pPr>
            <a:lvl4pPr lvl="3" algn="ctr">
              <a:lnSpc>
                <a:spcPct val="100000"/>
              </a:lnSpc>
              <a:spcBef>
                <a:spcPts val="320"/>
              </a:spcBef>
              <a:spcAft>
                <a:spcPts val="0"/>
              </a:spcAft>
              <a:buClr>
                <a:schemeClr val="dk1"/>
              </a:buClr>
              <a:buSzPts val="1600"/>
              <a:buFont typeface="Times New Roman"/>
              <a:buNone/>
              <a:defRPr sz="1600"/>
            </a:lvl4pPr>
            <a:lvl5pPr lvl="4" algn="ctr">
              <a:lnSpc>
                <a:spcPct val="100000"/>
              </a:lnSpc>
              <a:spcBef>
                <a:spcPts val="320"/>
              </a:spcBef>
              <a:spcAft>
                <a:spcPts val="0"/>
              </a:spcAft>
              <a:buClr>
                <a:schemeClr val="dk1"/>
              </a:buClr>
              <a:buSzPts val="1600"/>
              <a:buFont typeface="Times New Roman"/>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3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484804C-E2C2-44BE-BCFD-8053EB60501D}" type="datetime3">
              <a:rPr lang="en-US" smtClean="0"/>
              <a:pPr/>
              <a:t>29 March 2026</a:t>
            </a:fld>
            <a:endParaRPr/>
          </a:p>
        </p:txBody>
      </p:sp>
      <p:sp>
        <p:nvSpPr>
          <p:cNvPr id="33" name="Google Shape;33;p3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33"/>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 name="Google Shape;37;p33"/>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a:lvl1pPr>
            <a:lvl2pPr marL="914400" lvl="1" indent="-228600" algn="l">
              <a:lnSpc>
                <a:spcPct val="100000"/>
              </a:lnSpc>
              <a:spcBef>
                <a:spcPts val="400"/>
              </a:spcBef>
              <a:spcAft>
                <a:spcPts val="0"/>
              </a:spcAft>
              <a:buClr>
                <a:schemeClr val="dk1"/>
              </a:buClr>
              <a:buSzPts val="2000"/>
              <a:buFont typeface="Times New Roman"/>
              <a:buNone/>
              <a:defRPr sz="2000"/>
            </a:lvl2pPr>
            <a:lvl3pPr marL="1371600" lvl="2" indent="-228600" algn="l">
              <a:lnSpc>
                <a:spcPct val="100000"/>
              </a:lnSpc>
              <a:spcBef>
                <a:spcPts val="360"/>
              </a:spcBef>
              <a:spcAft>
                <a:spcPts val="0"/>
              </a:spcAft>
              <a:buClr>
                <a:schemeClr val="dk1"/>
              </a:buClr>
              <a:buSzPts val="1800"/>
              <a:buFont typeface="Times New Roman"/>
              <a:buNone/>
              <a:defRPr sz="1800"/>
            </a:lvl3pPr>
            <a:lvl4pPr marL="1828800" lvl="3" indent="-228600" algn="l">
              <a:lnSpc>
                <a:spcPct val="100000"/>
              </a:lnSpc>
              <a:spcBef>
                <a:spcPts val="320"/>
              </a:spcBef>
              <a:spcAft>
                <a:spcPts val="0"/>
              </a:spcAft>
              <a:buClr>
                <a:schemeClr val="dk1"/>
              </a:buClr>
              <a:buSzPts val="1600"/>
              <a:buFont typeface="Times New Roman"/>
              <a:buNone/>
              <a:defRPr sz="1600"/>
            </a:lvl4pPr>
            <a:lvl5pPr marL="2286000" lvl="4" indent="-228600" algn="l">
              <a:lnSpc>
                <a:spcPct val="100000"/>
              </a:lnSpc>
              <a:spcBef>
                <a:spcPts val="320"/>
              </a:spcBef>
              <a:spcAft>
                <a:spcPts val="0"/>
              </a:spcAft>
              <a:buClr>
                <a:schemeClr val="dk1"/>
              </a:buClr>
              <a:buSzPts val="1600"/>
              <a:buFont typeface="Times New Roman"/>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38" name="Google Shape;38;p3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693C889-72BB-4A3F-88FF-DB5D79B46C9F}" type="datetime3">
              <a:rPr lang="en-US" smtClean="0"/>
              <a:pPr/>
              <a:t>29 March 2026</a:t>
            </a:fld>
            <a:endParaRPr/>
          </a:p>
        </p:txBody>
      </p:sp>
      <p:sp>
        <p:nvSpPr>
          <p:cNvPr id="39" name="Google Shape;39;p3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34"/>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3" name="Google Shape;43;p34"/>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4"/>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3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68438443-5994-46C8-AEEF-2D59BC6E7C9E}" type="datetime3">
              <a:rPr lang="en-US" smtClean="0"/>
              <a:pPr/>
              <a:t>29 March 2026</a:t>
            </a:fld>
            <a:endParaRPr/>
          </a:p>
        </p:txBody>
      </p:sp>
      <p:sp>
        <p:nvSpPr>
          <p:cNvPr id="46" name="Google Shape;46;p3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35"/>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35"/>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5"/>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35"/>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28E5C271-FA14-4B19-BFBF-3563F3BF711E}" type="datetime3">
              <a:rPr lang="en-US" smtClean="0"/>
              <a:pPr/>
              <a:t>29 March 2026</a:t>
            </a:fld>
            <a:endParaRPr/>
          </a:p>
        </p:txBody>
      </p:sp>
      <p:sp>
        <p:nvSpPr>
          <p:cNvPr id="55" name="Google Shape;55;p3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36"/>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36"/>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Font typeface="Times New Roman"/>
              <a:buChar char="•"/>
              <a:defRPr sz="3200"/>
            </a:lvl1pPr>
            <a:lvl2pPr marL="914400" lvl="1" indent="-406400" algn="l">
              <a:lnSpc>
                <a:spcPct val="100000"/>
              </a:lnSpc>
              <a:spcBef>
                <a:spcPts val="560"/>
              </a:spcBef>
              <a:spcAft>
                <a:spcPts val="0"/>
              </a:spcAft>
              <a:buClr>
                <a:schemeClr val="dk1"/>
              </a:buClr>
              <a:buSzPts val="2800"/>
              <a:buFont typeface="Times New Roman"/>
              <a:buChar char="–"/>
              <a:defRPr sz="2800"/>
            </a:lvl2pPr>
            <a:lvl3pPr marL="1371600" lvl="2" indent="-381000" algn="l">
              <a:lnSpc>
                <a:spcPct val="100000"/>
              </a:lnSpc>
              <a:spcBef>
                <a:spcPts val="480"/>
              </a:spcBef>
              <a:spcAft>
                <a:spcPts val="0"/>
              </a:spcAft>
              <a:buClr>
                <a:schemeClr val="dk1"/>
              </a:buClr>
              <a:buSzPts val="2400"/>
              <a:buFont typeface="Times New Roman"/>
              <a:buChar char="•"/>
              <a:defRPr sz="2400"/>
            </a:lvl3pPr>
            <a:lvl4pPr marL="1828800" lvl="3" indent="-355600" algn="l">
              <a:lnSpc>
                <a:spcPct val="100000"/>
              </a:lnSpc>
              <a:spcBef>
                <a:spcPts val="400"/>
              </a:spcBef>
              <a:spcAft>
                <a:spcPts val="0"/>
              </a:spcAft>
              <a:buClr>
                <a:schemeClr val="dk1"/>
              </a:buClr>
              <a:buSzPts val="2000"/>
              <a:buFont typeface="Times New Roman"/>
              <a:buChar char="–"/>
              <a:defRPr sz="2000"/>
            </a:lvl4pPr>
            <a:lvl5pPr marL="2286000" lvl="4" indent="-355600" algn="l">
              <a:lnSpc>
                <a:spcPct val="100000"/>
              </a:lnSpc>
              <a:spcBef>
                <a:spcPts val="400"/>
              </a:spcBef>
              <a:spcAft>
                <a:spcPts val="0"/>
              </a:spcAft>
              <a:buClr>
                <a:schemeClr val="dk1"/>
              </a:buClr>
              <a:buSzPts val="2000"/>
              <a:buFont typeface="Times New Roman"/>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36"/>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Times New Roman"/>
              <a:buNone/>
              <a:defRPr sz="1600"/>
            </a:lvl1pPr>
            <a:lvl2pPr marL="914400" lvl="1" indent="-228600" algn="l">
              <a:lnSpc>
                <a:spcPct val="100000"/>
              </a:lnSpc>
              <a:spcBef>
                <a:spcPts val="280"/>
              </a:spcBef>
              <a:spcAft>
                <a:spcPts val="0"/>
              </a:spcAft>
              <a:buClr>
                <a:schemeClr val="dk1"/>
              </a:buClr>
              <a:buSzPts val="1400"/>
              <a:buFont typeface="Times New Roman"/>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3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A449154-40C0-463B-9870-DE851E5650F2}" type="datetime3">
              <a:rPr lang="en-US" smtClean="0"/>
              <a:pPr/>
              <a:t>29 March 2026</a:t>
            </a:fld>
            <a:endParaRPr/>
          </a:p>
        </p:txBody>
      </p:sp>
      <p:sp>
        <p:nvSpPr>
          <p:cNvPr id="62" name="Google Shape;62;p3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37"/>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6" name="Google Shape;66;p37"/>
          <p:cNvSpPr>
            <a:spLocks noGrp="1"/>
          </p:cNvSpPr>
          <p:nvPr>
            <p:ph type="pic" idx="2"/>
          </p:nvPr>
        </p:nvSpPr>
        <p:spPr>
          <a:xfrm>
            <a:off x="3887788" y="987425"/>
            <a:ext cx="4629150" cy="4873625"/>
          </a:xfrm>
          <a:prstGeom prst="rect">
            <a:avLst/>
          </a:prstGeom>
          <a:noFill/>
          <a:ln>
            <a:noFill/>
          </a:ln>
        </p:spPr>
        <p:txBody>
          <a:bodyPr/>
          <a:lstStyle/>
          <a:p>
            <a:endParaRPr lang="en-IN"/>
          </a:p>
        </p:txBody>
      </p:sp>
      <p:sp>
        <p:nvSpPr>
          <p:cNvPr id="67" name="Google Shape;67;p37"/>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Times New Roman"/>
              <a:buNone/>
              <a:defRPr sz="1600"/>
            </a:lvl1pPr>
            <a:lvl2pPr marL="914400" lvl="1" indent="-228600" algn="l">
              <a:lnSpc>
                <a:spcPct val="100000"/>
              </a:lnSpc>
              <a:spcBef>
                <a:spcPts val="280"/>
              </a:spcBef>
              <a:spcAft>
                <a:spcPts val="0"/>
              </a:spcAft>
              <a:buClr>
                <a:schemeClr val="dk1"/>
              </a:buClr>
              <a:buSzPts val="1400"/>
              <a:buFont typeface="Times New Roman"/>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3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E899386-CBAA-4D39-AF2D-8EC1DE21406A}" type="datetime3">
              <a:rPr lang="en-US" smtClean="0"/>
              <a:pPr/>
              <a:t>29 March 2026</a:t>
            </a:fld>
            <a:endParaRPr/>
          </a:p>
        </p:txBody>
      </p:sp>
      <p:sp>
        <p:nvSpPr>
          <p:cNvPr id="69" name="Google Shape;69;p3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3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3" name="Google Shape;73;p38"/>
          <p:cNvSpPr txBox="1">
            <a:spLocks noGrp="1"/>
          </p:cNvSpPr>
          <p:nvPr>
            <p:ph type="body" idx="1"/>
          </p:nvPr>
        </p:nvSpPr>
        <p:spPr>
          <a:xfrm rot="5400000">
            <a:off x="2514600" y="152400"/>
            <a:ext cx="4114800" cy="7772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3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8094A4C-1916-4AF1-A1C2-EDC0C0EC293E}" type="datetime3">
              <a:rPr lang="en-US" smtClean="0"/>
              <a:pPr/>
              <a:t>29 March 2026</a:t>
            </a:fld>
            <a:endParaRPr/>
          </a:p>
        </p:txBody>
      </p:sp>
      <p:sp>
        <p:nvSpPr>
          <p:cNvPr id="75" name="Google Shape;75;p3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39"/>
          <p:cNvSpPr txBox="1">
            <a:spLocks noGrp="1"/>
          </p:cNvSpPr>
          <p:nvPr>
            <p:ph type="title"/>
          </p:nvPr>
        </p:nvSpPr>
        <p:spPr>
          <a:xfrm rot="5400000">
            <a:off x="4743450" y="2381250"/>
            <a:ext cx="5486400" cy="1943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9" name="Google Shape;79;p39"/>
          <p:cNvSpPr txBox="1">
            <a:spLocks noGrp="1"/>
          </p:cNvSpPr>
          <p:nvPr>
            <p:ph type="body" idx="1"/>
          </p:nvPr>
        </p:nvSpPr>
        <p:spPr>
          <a:xfrm rot="5400000">
            <a:off x="781050" y="514350"/>
            <a:ext cx="5486400" cy="56769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3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386948D6-0002-44A7-B245-A5E38AE83685}" type="datetime3">
              <a:rPr lang="en-US" smtClean="0"/>
              <a:pPr/>
              <a:t>29 March 2026</a:t>
            </a:fld>
            <a:endParaRPr/>
          </a:p>
        </p:txBody>
      </p:sp>
      <p:sp>
        <p:nvSpPr>
          <p:cNvPr id="81" name="Google Shape;81;p3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6D6F5">
            <a:alpha val="54117"/>
          </a:srgbClr>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28"/>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2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fld id="{B8A5363C-25EE-49EE-8F58-FC70F37812F9}" type="datetime3">
              <a:rPr lang="en-US" smtClean="0"/>
              <a:pPr/>
              <a:t>29 March 2026</a:t>
            </a:fld>
            <a:endParaRPr/>
          </a:p>
        </p:txBody>
      </p:sp>
      <p:sp>
        <p:nvSpPr>
          <p:cNvPr id="13" name="Google Shape;13;p2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2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89" name="Google Shape;89;p1"/>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90" name="Google Shape;90;p1"/>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91" name="Google Shape;91;p1"/>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a:t>
            </a:fld>
            <a:endParaRPr sz="1600" b="1" i="0" u="none" strike="noStrike" cap="none">
              <a:solidFill>
                <a:srgbClr val="FFFFFF"/>
              </a:solidFill>
              <a:latin typeface="Comic Sans MS"/>
              <a:ea typeface="Comic Sans MS"/>
              <a:cs typeface="Comic Sans MS"/>
              <a:sym typeface="Comic Sans MS"/>
            </a:endParaRPr>
          </a:p>
        </p:txBody>
      </p:sp>
      <p:sp>
        <p:nvSpPr>
          <p:cNvPr id="92" name="Google Shape;92;p1"/>
          <p:cNvSpPr txBox="1">
            <a:spLocks noGrp="1"/>
          </p:cNvSpPr>
          <p:nvPr>
            <p:ph type="dt" idx="10"/>
          </p:nvPr>
        </p:nvSpPr>
        <p:spPr>
          <a:xfrm>
            <a:off x="0" y="6564325"/>
            <a:ext cx="1948800" cy="412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E1438992-91CF-42A5-9A63-D24A032BB5F6}"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a:solidFill>
                <a:srgbClr val="FF0066"/>
              </a:solidFill>
              <a:latin typeface="Arial Rounded"/>
              <a:ea typeface="Arial Rounded"/>
              <a:cs typeface="Arial Rounded"/>
              <a:sym typeface="Arial Rounded"/>
            </a:endParaRPr>
          </a:p>
        </p:txBody>
      </p:sp>
      <p:sp>
        <p:nvSpPr>
          <p:cNvPr id="93" name="Google Shape;93;p1"/>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94" name="Google Shape;94;p1"/>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95" name="Google Shape;95;p1"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96" name="Google Shape;96;p1"/>
          <p:cNvSpPr txBox="1"/>
          <p:nvPr/>
        </p:nvSpPr>
        <p:spPr>
          <a:xfrm>
            <a:off x="827584" y="2503488"/>
            <a:ext cx="7272808" cy="1754286"/>
          </a:xfrm>
          <a:prstGeom prst="rect">
            <a:avLst/>
          </a:prstGeom>
          <a:noFill/>
          <a:ln>
            <a:noFill/>
          </a:ln>
        </p:spPr>
        <p:txBody>
          <a:bodyPr spcFirstLastPara="1" wrap="square" lIns="91425" tIns="45700" rIns="91425" bIns="45700" anchor="t" anchorCtr="0">
            <a:spAutoFit/>
          </a:bodyPr>
          <a:lstStyle/>
          <a:p>
            <a:pPr lvl="0" algn="ctr">
              <a:buClr>
                <a:schemeClr val="dk1"/>
              </a:buClr>
              <a:buSzPts val="3600"/>
            </a:pPr>
            <a:r>
              <a:rPr lang="en-US" sz="3600" b="1" dirty="0">
                <a:latin typeface="Times New Roman" panose="02020603050405020304" pitchFamily="18" charset="0"/>
                <a:cs typeface="Times New Roman" panose="02020603050405020304" pitchFamily="18" charset="0"/>
              </a:rPr>
              <a:t>Automated Vulnerable Data Detection Using Binary to source  Code Similarity Analysis</a:t>
            </a:r>
            <a:endParaRPr lang="en-US" sz="3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97" name="Google Shape;97;p1"/>
          <p:cNvSpPr txBox="1"/>
          <p:nvPr/>
        </p:nvSpPr>
        <p:spPr>
          <a:xfrm>
            <a:off x="4463988" y="5043666"/>
            <a:ext cx="4906297" cy="923289"/>
          </a:xfrm>
          <a:prstGeom prst="rect">
            <a:avLst/>
          </a:prstGeom>
          <a:noFill/>
          <a:ln>
            <a:noFill/>
          </a:ln>
        </p:spPr>
        <p:txBody>
          <a:bodyPr spcFirstLastPara="1" wrap="square" lIns="91425" tIns="45700" rIns="91425" bIns="45700" anchor="t" anchorCtr="0">
            <a:spAutoFit/>
          </a:bodyPr>
          <a:lstStyle/>
          <a:p>
            <a:pPr lvl="0" algn="ctr">
              <a:buClr>
                <a:schemeClr val="dk1"/>
              </a:buClr>
              <a:buSzPts val="1800"/>
            </a:pPr>
            <a:r>
              <a:rPr lang="en-US" sz="1800" b="1" dirty="0">
                <a:solidFill>
                  <a:schemeClr val="dk1"/>
                </a:solidFill>
                <a:latin typeface="Times New Roman"/>
                <a:ea typeface="Times New Roman"/>
                <a:cs typeface="Times New Roman"/>
                <a:sym typeface="Times New Roman"/>
              </a:rPr>
              <a:t>Akash K , 23BCS098</a:t>
            </a:r>
          </a:p>
          <a:p>
            <a:pPr lvl="0" algn="ctr">
              <a:buClr>
                <a:schemeClr val="dk1"/>
              </a:buClr>
              <a:buSzPts val="1800"/>
            </a:pPr>
            <a:r>
              <a:rPr lang="en-US" sz="1800" b="1" dirty="0">
                <a:solidFill>
                  <a:schemeClr val="dk1"/>
                </a:solidFill>
                <a:latin typeface="Times New Roman"/>
                <a:ea typeface="Times New Roman"/>
                <a:cs typeface="Times New Roman"/>
                <a:sym typeface="Times New Roman"/>
              </a:rPr>
              <a:t>Mohamed Labir O.A , 23BCS107</a:t>
            </a: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p:txBody>
      </p:sp>
      <p:sp>
        <p:nvSpPr>
          <p:cNvPr id="2" name="Google Shape;97;p1">
            <a:extLst>
              <a:ext uri="{FF2B5EF4-FFF2-40B4-BE49-F238E27FC236}">
                <a16:creationId xmlns:a16="http://schemas.microsoft.com/office/drawing/2014/main" id="{CF46A962-0F70-96C9-324D-9F297AC3737A}"/>
              </a:ext>
            </a:extLst>
          </p:cNvPr>
          <p:cNvSpPr txBox="1"/>
          <p:nvPr/>
        </p:nvSpPr>
        <p:spPr>
          <a:xfrm>
            <a:off x="0" y="4918220"/>
            <a:ext cx="3752411" cy="1477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1" i="0" u="none" strike="noStrike" cap="none" dirty="0">
                <a:solidFill>
                  <a:schemeClr val="dk1"/>
                </a:solidFill>
                <a:latin typeface="Times New Roman"/>
                <a:ea typeface="Times New Roman"/>
                <a:cs typeface="Times New Roman"/>
                <a:sym typeface="Times New Roman"/>
              </a:rPr>
              <a:t>GUIDED BY,</a:t>
            </a: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a:p>
            <a:pPr lvl="0" algn="ctr">
              <a:buClr>
                <a:schemeClr val="dk1"/>
              </a:buClr>
              <a:buSzPts val="1800"/>
            </a:pPr>
            <a:r>
              <a:rPr lang="en-IN" sz="1800" b="1" dirty="0" err="1">
                <a:latin typeface="Times New Roman" panose="02020603050405020304" pitchFamily="18" charset="0"/>
                <a:cs typeface="Times New Roman" panose="02020603050405020304" pitchFamily="18" charset="0"/>
              </a:rPr>
              <a:t>Mrs.C.Abinaya</a:t>
            </a:r>
            <a:r>
              <a:rPr lang="en-IN" sz="1800" b="1" dirty="0">
                <a:latin typeface="Times New Roman" panose="02020603050405020304" pitchFamily="18" charset="0"/>
                <a:cs typeface="Times New Roman" panose="02020603050405020304" pitchFamily="18" charset="0"/>
              </a:rPr>
              <a:t> Devi</a:t>
            </a:r>
            <a:endParaRPr lang="en-US" sz="18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0" algn="ctr">
              <a:buClr>
                <a:schemeClr val="dk1"/>
              </a:buClr>
              <a:buSzPts val="1800"/>
            </a:pPr>
            <a:r>
              <a:rPr lang="en-US" sz="1800" b="1" dirty="0">
                <a:solidFill>
                  <a:schemeClr val="dk1"/>
                </a:solidFill>
                <a:latin typeface="Times New Roman"/>
                <a:ea typeface="Times New Roman"/>
                <a:cs typeface="Times New Roman"/>
                <a:sym typeface="Times New Roman"/>
              </a:rPr>
              <a:t>Assistant Professor</a:t>
            </a: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50" name="Google Shape;150;p1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51" name="Google Shape;151;p1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52" name="Google Shape;152;p1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a:t>
            </a:fld>
            <a:endParaRPr sz="1600" b="1" i="0" u="none" strike="noStrike" cap="none">
              <a:solidFill>
                <a:srgbClr val="FFFFFF"/>
              </a:solidFill>
              <a:latin typeface="Comic Sans MS"/>
              <a:ea typeface="Comic Sans MS"/>
              <a:cs typeface="Comic Sans MS"/>
              <a:sym typeface="Comic Sans MS"/>
            </a:endParaRPr>
          </a:p>
        </p:txBody>
      </p:sp>
      <p:sp>
        <p:nvSpPr>
          <p:cNvPr id="153" name="Google Shape;153;p12"/>
          <p:cNvSpPr txBox="1">
            <a:spLocks noGrp="1"/>
          </p:cNvSpPr>
          <p:nvPr>
            <p:ph type="body" idx="1"/>
          </p:nvPr>
        </p:nvSpPr>
        <p:spPr>
          <a:xfrm>
            <a:off x="303090" y="1168037"/>
            <a:ext cx="8247185" cy="5250225"/>
          </a:xfrm>
          <a:prstGeom prst="rect">
            <a:avLst/>
          </a:prstGeom>
          <a:noFill/>
          <a:ln>
            <a:noFill/>
          </a:ln>
        </p:spPr>
        <p:txBody>
          <a:bodyPr spcFirstLastPara="1" wrap="square" lIns="91425" tIns="45700" rIns="91425" bIns="45700" anchor="t" anchorCtr="0">
            <a:noAutofit/>
          </a:bodyPr>
          <a:lstStyle/>
          <a:p>
            <a:pPr lvl="0">
              <a:lnSpc>
                <a:spcPct val="150000"/>
              </a:lnSpc>
              <a:buFont typeface="Arial" panose="020B0604020202020204" pitchFamily="34" charset="0"/>
              <a:buChar char="•"/>
            </a:pPr>
            <a:r>
              <a:rPr lang="en-US" sz="2300" dirty="0"/>
              <a:t>Binary Code Similarity Detection (BCSD) is a critical technique used in malware detection, vulnerability discovery, software plagiarism detection, patch analysis, reverse engineering.</a:t>
            </a:r>
          </a:p>
          <a:p>
            <a:pPr lvl="0">
              <a:lnSpc>
                <a:spcPct val="150000"/>
              </a:lnSpc>
              <a:buFont typeface="Arial" panose="020B0604020202020204" pitchFamily="34" charset="0"/>
              <a:buChar char="•"/>
            </a:pPr>
            <a:r>
              <a:rPr lang="en-US" sz="2400" dirty="0"/>
              <a:t>Traditional BCSD methods rely on handcrafted features or graph-based matching techniques, which struggle with cross-complier variations, cross-optimization levels.</a:t>
            </a:r>
          </a:p>
          <a:p>
            <a:pPr lvl="0">
              <a:lnSpc>
                <a:spcPct val="150000"/>
              </a:lnSpc>
              <a:buFont typeface="Arial" panose="020B0604020202020204" pitchFamily="34" charset="0"/>
              <a:buChar char="•"/>
            </a:pPr>
            <a:r>
              <a:rPr lang="en-US" sz="2400" dirty="0"/>
              <a:t>Large Language Models (LLMs) to improve binary similarity detection by converting binary code into high-level source-like representations and then performing similarity analysis.</a:t>
            </a:r>
            <a:endParaRPr sz="2300" dirty="0">
              <a:latin typeface="Times New Roman" pitchFamily="18" charset="0"/>
              <a:cs typeface="Times New Roman" pitchFamily="18" charset="0"/>
            </a:endParaRPr>
          </a:p>
        </p:txBody>
      </p:sp>
      <p:sp>
        <p:nvSpPr>
          <p:cNvPr id="154" name="Google Shape;154;p12"/>
          <p:cNvSpPr txBox="1">
            <a:spLocks noGrp="1"/>
          </p:cNvSpPr>
          <p:nvPr>
            <p:ph type="dt" idx="10"/>
          </p:nvPr>
        </p:nvSpPr>
        <p:spPr>
          <a:xfrm>
            <a:off x="0" y="6550025"/>
            <a:ext cx="19050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E6DFCBC0-FF8D-4DBE-9B7B-D46C9E3C5A7A}"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a:solidFill>
                <a:srgbClr val="FF0066"/>
              </a:solidFill>
              <a:latin typeface="Arial Rounded"/>
              <a:ea typeface="Arial Rounded"/>
              <a:cs typeface="Arial Rounded"/>
              <a:sym typeface="Arial Rounded"/>
            </a:endParaRPr>
          </a:p>
        </p:txBody>
      </p:sp>
      <p:sp>
        <p:nvSpPr>
          <p:cNvPr id="155" name="Google Shape;155;p1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56" name="Google Shape;156;p1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57" name="Google Shape;157;p12"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58" name="Google Shape;158;p12"/>
          <p:cNvSpPr txBox="1"/>
          <p:nvPr/>
        </p:nvSpPr>
        <p:spPr>
          <a:xfrm>
            <a:off x="596107" y="576009"/>
            <a:ext cx="35814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Introduction</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g13e7f44d304_0_0"/>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05" name="Google Shape;105;g13e7f44d304_0_0"/>
          <p:cNvSpPr txBox="1"/>
          <p:nvPr/>
        </p:nvSpPr>
        <p:spPr>
          <a:xfrm>
            <a:off x="2273300" y="6550025"/>
            <a:ext cx="4597500" cy="307800"/>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47FFD0"/>
                </a:solidFill>
                <a:latin typeface="Comic Sans MS"/>
                <a:ea typeface="Comic Sans MS"/>
                <a:cs typeface="Comic Sans MS"/>
                <a:sym typeface="Comic Sans MS"/>
              </a:rPr>
              <a:t>Department of Computer Science and Engineering </a:t>
            </a:r>
            <a:endParaRPr sz="1400" b="0" i="0" u="none" strike="noStrike" cap="none" dirty="0">
              <a:solidFill>
                <a:srgbClr val="000000"/>
              </a:solidFill>
              <a:latin typeface="Arial"/>
              <a:ea typeface="Arial"/>
              <a:cs typeface="Arial"/>
              <a:sym typeface="Arial"/>
            </a:endParaRPr>
          </a:p>
        </p:txBody>
      </p:sp>
      <p:pic>
        <p:nvPicPr>
          <p:cNvPr id="106" name="Google Shape;106;g13e7f44d304_0_0"/>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07" name="Google Shape;107;g13e7f44d304_0_0"/>
          <p:cNvSpPr/>
          <p:nvPr/>
        </p:nvSpPr>
        <p:spPr>
          <a:xfrm>
            <a:off x="8550275" y="6553200"/>
            <a:ext cx="593700" cy="306300"/>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a:t>
            </a:fld>
            <a:endParaRPr sz="1600" b="1" i="0" u="none" strike="noStrike" cap="none">
              <a:solidFill>
                <a:srgbClr val="FFFFFF"/>
              </a:solidFill>
              <a:latin typeface="Comic Sans MS"/>
              <a:ea typeface="Comic Sans MS"/>
              <a:cs typeface="Comic Sans MS"/>
              <a:sym typeface="Comic Sans MS"/>
            </a:endParaRPr>
          </a:p>
        </p:txBody>
      </p:sp>
      <p:sp>
        <p:nvSpPr>
          <p:cNvPr id="108" name="Google Shape;108;g13e7f44d304_0_0"/>
          <p:cNvSpPr txBox="1">
            <a:spLocks noGrp="1"/>
          </p:cNvSpPr>
          <p:nvPr>
            <p:ph type="dt" idx="10"/>
          </p:nvPr>
        </p:nvSpPr>
        <p:spPr>
          <a:xfrm>
            <a:off x="-1" y="6564313"/>
            <a:ext cx="1981201"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D4679909-0E7E-462F-91D5-8FC128A19CEB}"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09" name="Google Shape;109;g13e7f44d304_0_0"/>
          <p:cNvSpPr txBox="1"/>
          <p:nvPr/>
        </p:nvSpPr>
        <p:spPr>
          <a:xfrm>
            <a:off x="919163" y="0"/>
            <a:ext cx="7305600" cy="47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10" name="Google Shape;110;g13e7f44d304_0_0"/>
          <p:cNvSpPr/>
          <p:nvPr/>
        </p:nvSpPr>
        <p:spPr>
          <a:xfrm>
            <a:off x="8355013" y="20638"/>
            <a:ext cx="777900" cy="777900"/>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11" name="Google Shape;111;g13e7f44d304_0_0"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12" name="Google Shape;112;g13e7f44d304_0_0"/>
          <p:cNvSpPr txBox="1"/>
          <p:nvPr/>
        </p:nvSpPr>
        <p:spPr>
          <a:xfrm>
            <a:off x="482600" y="1288405"/>
            <a:ext cx="35814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Problem Statement </a:t>
            </a:r>
            <a:endParaRPr sz="2800" b="0" i="0" u="none" strike="noStrike" cap="none" dirty="0">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2F0A8B2C-9988-3B6D-61B3-A32EB0DF2BEE}"/>
              </a:ext>
            </a:extLst>
          </p:cNvPr>
          <p:cNvSpPr txBox="1">
            <a:spLocks noChangeArrowheads="1"/>
          </p:cNvSpPr>
          <p:nvPr/>
        </p:nvSpPr>
        <p:spPr>
          <a:xfrm>
            <a:off x="395174" y="1944185"/>
            <a:ext cx="8451951" cy="462012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114300" indent="0">
              <a:lnSpc>
                <a:spcPct val="150000"/>
              </a:lnSpc>
              <a:spcBef>
                <a:spcPts val="360"/>
              </a:spcBef>
              <a:buClr>
                <a:schemeClr val="dk1"/>
              </a:buClr>
              <a:buSzPts val="1800"/>
              <a:buFont typeface="Times New Roman"/>
              <a:buNone/>
              <a:defRPr sz="3200">
                <a:solidFill>
                  <a:schemeClr val="dk1"/>
                </a:solidFill>
                <a:latin typeface="Times New Roman"/>
                <a:ea typeface="Times New Roman"/>
                <a:cs typeface="Times New Roman"/>
                <a:sym typeface="Times New Roman"/>
              </a:defRPr>
            </a:lvl1pPr>
            <a:lvl2pPr marL="914400" indent="-342900">
              <a:spcBef>
                <a:spcPts val="360"/>
              </a:spcBef>
              <a:buClr>
                <a:schemeClr val="dk1"/>
              </a:buClr>
              <a:buSzPts val="1800"/>
              <a:buFont typeface="Times New Roman"/>
              <a:buChar char="–"/>
              <a:defRPr sz="2800">
                <a:solidFill>
                  <a:schemeClr val="dk1"/>
                </a:solidFill>
                <a:latin typeface="Times New Roman"/>
                <a:ea typeface="Times New Roman"/>
                <a:cs typeface="Times New Roman"/>
                <a:sym typeface="Times New Roman"/>
              </a:defRPr>
            </a:lvl2pPr>
            <a:lvl3pPr marL="1371600" indent="-342900">
              <a:spcBef>
                <a:spcPts val="360"/>
              </a:spcBef>
              <a:buClr>
                <a:schemeClr val="dk1"/>
              </a:buClr>
              <a:buSzPts val="1800"/>
              <a:buFont typeface="Times New Roman"/>
              <a:buChar char="•"/>
              <a:defRPr sz="2400">
                <a:solidFill>
                  <a:schemeClr val="dk1"/>
                </a:solidFill>
                <a:latin typeface="Times New Roman"/>
                <a:ea typeface="Times New Roman"/>
                <a:cs typeface="Times New Roman"/>
                <a:sym typeface="Times New Roman"/>
              </a:defRPr>
            </a:lvl3pPr>
            <a:lvl4pPr marL="1828800" indent="-342900">
              <a:spcBef>
                <a:spcPts val="360"/>
              </a:spcBef>
              <a:buClr>
                <a:schemeClr val="dk1"/>
              </a:buClr>
              <a:buSzPts val="1800"/>
              <a:buFont typeface="Times New Roman"/>
              <a:buChar char="–"/>
              <a:defRPr sz="2000">
                <a:solidFill>
                  <a:schemeClr val="dk1"/>
                </a:solidFill>
                <a:latin typeface="Times New Roman"/>
                <a:ea typeface="Times New Roman"/>
                <a:cs typeface="Times New Roman"/>
                <a:sym typeface="Times New Roman"/>
              </a:defRPr>
            </a:lvl4pPr>
            <a:lvl5pPr marL="2286000" indent="-342900">
              <a:spcBef>
                <a:spcPts val="360"/>
              </a:spcBef>
              <a:buClr>
                <a:schemeClr val="dk1"/>
              </a:buClr>
              <a:buSzPts val="1800"/>
              <a:buFont typeface="Times New Roman"/>
              <a:buChar char="»"/>
              <a:defRPr sz="2000">
                <a:solidFill>
                  <a:schemeClr val="dk1"/>
                </a:solidFill>
                <a:latin typeface="Times New Roman"/>
                <a:ea typeface="Times New Roman"/>
                <a:cs typeface="Times New Roman"/>
                <a:sym typeface="Times New Roman"/>
              </a:defRPr>
            </a:lvl5pPr>
            <a:lvl6pPr marL="27432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6pPr>
            <a:lvl7pPr marL="32004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7pPr>
            <a:lvl8pPr marL="36576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8pPr>
            <a:lvl9pPr marL="41148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9pPr>
          </a:lstStyle>
          <a:p>
            <a:r>
              <a:rPr lang="en-US" sz="2400" dirty="0"/>
              <a:t>Detecting similarity between binary programs is challenging because different compilers produce different binaries from the same source code, Optimization levels change control flow and instruction patterns, </a:t>
            </a:r>
            <a:r>
              <a:rPr lang="fr-FR" sz="2400" dirty="0"/>
              <a:t>Obfuscation techniques hide structural patterns.</a:t>
            </a:r>
            <a:r>
              <a:rPr lang="en-US" sz="2400" dirty="0"/>
              <a:t> Therefore, we need a method that captures semantic similarity rather than syntactic similarity.</a:t>
            </a:r>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3"/>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20" name="Google Shape;120;p3"/>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21" name="Google Shape;121;p3"/>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22" name="Google Shape;122;p3"/>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4</a:t>
            </a:fld>
            <a:endParaRPr sz="1600" b="1" i="0" u="none" strike="noStrike" cap="none">
              <a:solidFill>
                <a:srgbClr val="FFFFFF"/>
              </a:solidFill>
              <a:latin typeface="Comic Sans MS"/>
              <a:ea typeface="Comic Sans MS"/>
              <a:cs typeface="Comic Sans MS"/>
              <a:sym typeface="Comic Sans MS"/>
            </a:endParaRPr>
          </a:p>
        </p:txBody>
      </p:sp>
      <p:sp>
        <p:nvSpPr>
          <p:cNvPr id="123" name="Google Shape;123;p3"/>
          <p:cNvSpPr txBox="1">
            <a:spLocks noGrp="1"/>
          </p:cNvSpPr>
          <p:nvPr>
            <p:ph type="dt" idx="10"/>
          </p:nvPr>
        </p:nvSpPr>
        <p:spPr>
          <a:xfrm>
            <a:off x="-1" y="6564313"/>
            <a:ext cx="1927124" cy="4127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25260AD9-E776-4CA9-ACBE-E4F114151A87}"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a:solidFill>
                <a:srgbClr val="FF0066"/>
              </a:solidFill>
              <a:latin typeface="Arial Rounded"/>
              <a:ea typeface="Arial Rounded"/>
              <a:cs typeface="Arial Rounded"/>
              <a:sym typeface="Arial Rounded"/>
            </a:endParaRPr>
          </a:p>
        </p:txBody>
      </p:sp>
      <p:sp>
        <p:nvSpPr>
          <p:cNvPr id="124" name="Google Shape;124;p3"/>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25" name="Google Shape;125;p3"/>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26" name="Google Shape;126;p3"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27" name="Google Shape;127;p3"/>
          <p:cNvSpPr txBox="1"/>
          <p:nvPr/>
        </p:nvSpPr>
        <p:spPr>
          <a:xfrm>
            <a:off x="600075" y="873344"/>
            <a:ext cx="35814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Objectives </a:t>
            </a:r>
            <a:endParaRPr sz="2800" b="0" i="0" u="none" strike="noStrike" cap="none">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DC529FB4-35F9-975C-2A8F-ECCA8C176B69}"/>
              </a:ext>
            </a:extLst>
          </p:cNvPr>
          <p:cNvSpPr txBox="1">
            <a:spLocks noChangeArrowheads="1"/>
          </p:cNvSpPr>
          <p:nvPr/>
        </p:nvSpPr>
        <p:spPr>
          <a:xfrm>
            <a:off x="406400" y="1775619"/>
            <a:ext cx="8143875" cy="4114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convert binary code into intermediate/source-level representation using LLM-based methods.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extract semantic embeddings from converted source code.</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compare binary functions using embedding similarity techniques.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improve cross-architecture and cross-compiler similarity detection accuracy.</a:t>
            </a: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723899" y="1284216"/>
            <a:ext cx="441415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Expected Outcomes </a:t>
            </a:r>
            <a:endParaRPr sz="2800" b="0" i="0" u="none" strike="noStrike" cap="none" dirty="0">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31C0CDC5-56C2-C101-C718-85FE3952B51C}"/>
              </a:ext>
            </a:extLst>
          </p:cNvPr>
          <p:cNvSpPr txBox="1">
            <a:spLocks noChangeArrowheads="1"/>
          </p:cNvSpPr>
          <p:nvPr/>
        </p:nvSpPr>
        <p:spPr>
          <a:xfrm>
            <a:off x="600075" y="2153874"/>
            <a:ext cx="8143875" cy="4114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Improved semantic similarity detection accuracy.</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Detect similar functions compiled with different compilers.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Identify vulnerable code across software versions.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Perform scalable binary similarity search</a:t>
            </a:r>
          </a:p>
          <a:p>
            <a:pPr algn="just">
              <a:spcBef>
                <a:spcPct val="0"/>
              </a:spcBef>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426040" y="685905"/>
            <a:ext cx="441415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r>
              <a:rPr lang="en-US" sz="2800" b="1" dirty="0">
                <a:solidFill>
                  <a:schemeClr val="dk1"/>
                </a:solidFill>
                <a:latin typeface="Times New Roman"/>
                <a:ea typeface="Times New Roman"/>
                <a:cs typeface="Times New Roman"/>
                <a:sym typeface="Times New Roman"/>
              </a:rPr>
              <a:t>- 1</a:t>
            </a: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31C0CDC5-56C2-C101-C718-85FE3952B51C}"/>
              </a:ext>
            </a:extLst>
          </p:cNvPr>
          <p:cNvSpPr txBox="1">
            <a:spLocks noChangeArrowheads="1"/>
          </p:cNvSpPr>
          <p:nvPr/>
        </p:nvSpPr>
        <p:spPr>
          <a:xfrm>
            <a:off x="171450" y="1399155"/>
            <a:ext cx="8961438" cy="496513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Ding et al. (2019)</a:t>
            </a:r>
            <a:r>
              <a:rPr lang="en-US" sz="2400" dirty="0">
                <a:latin typeface="Times New Roman" panose="02020603050405020304" pitchFamily="18" charset="0"/>
                <a:cs typeface="Times New Roman" panose="02020603050405020304" pitchFamily="18" charset="0"/>
              </a:rPr>
              <a:t> developed </a:t>
            </a:r>
            <a:r>
              <a:rPr lang="en-US" sz="2400" b="1" dirty="0">
                <a:latin typeface="Times New Roman" panose="02020603050405020304" pitchFamily="18" charset="0"/>
                <a:cs typeface="Times New Roman" panose="02020603050405020304" pitchFamily="18" charset="0"/>
              </a:rPr>
              <a:t>Asm2Vec</a:t>
            </a:r>
            <a:r>
              <a:rPr lang="en-US" sz="2400" dirty="0">
                <a:latin typeface="Times New Roman" panose="02020603050405020304" pitchFamily="18" charset="0"/>
                <a:cs typeface="Times New Roman" panose="02020603050405020304" pitchFamily="18" charset="0"/>
              </a:rPr>
              <a:t>, a neural network-based approach for binary code similarity detection that learns semantic relationships between assembly instructions. The model uses a representation learning technique inspired by PV-DM to embed assembly functions as vectors, making it robust against code obfuscation and compiler optimizations. It processes instruction sequences from disassembled binary code to produce function-level embeddings used for clone search.</a:t>
            </a:r>
          </a:p>
          <a:p>
            <a:endParaRPr lang="en-US" sz="2400" b="1" dirty="0">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S. H. H. Ding, B. C. M. Fung, and P. Charland, "Asm2Vec: Boosting static representation robustness for binary clone search against code obfuscation and compiler optimization," </a:t>
            </a:r>
            <a:r>
              <a:rPr lang="en-US" sz="1600" i="1" dirty="0">
                <a:solidFill>
                  <a:srgbClr val="0000CC"/>
                </a:solidFill>
                <a:latin typeface="Times New Roman" panose="02020603050405020304" pitchFamily="18" charset="0"/>
                <a:cs typeface="Times New Roman" panose="02020603050405020304" pitchFamily="18" charset="0"/>
              </a:rPr>
              <a:t>IEEE Symposium on Security and Privacy (SP)</a:t>
            </a:r>
            <a:r>
              <a:rPr lang="en-US" sz="1600" dirty="0">
                <a:solidFill>
                  <a:srgbClr val="0000CC"/>
                </a:solidFill>
                <a:latin typeface="Times New Roman" panose="02020603050405020304" pitchFamily="18" charset="0"/>
                <a:cs typeface="Times New Roman" panose="02020603050405020304" pitchFamily="18" charset="0"/>
              </a:rPr>
              <a:t>, </a:t>
            </a:r>
            <a:r>
              <a:rPr lang="en-US" sz="1600" dirty="0">
                <a:solidFill>
                  <a:srgbClr val="0000CC"/>
                </a:solidFill>
              </a:rPr>
              <a:t>2019, pp. 472–489.</a:t>
            </a:r>
          </a:p>
          <a:p>
            <a:pPr algn="just">
              <a:spcBef>
                <a:spcPct val="0"/>
              </a:spcBef>
              <a:buFontTx/>
              <a:buNone/>
              <a:defRPr/>
            </a:pPr>
            <a:endParaRPr lang="en-IN" altLang="en-US" sz="2200" i="1" dirty="0">
              <a:solidFill>
                <a:schemeClr val="accent1">
                  <a:lumMod val="75000"/>
                </a:schemeClr>
              </a:solidFill>
              <a:latin typeface="Times New Roman" panose="02020603050405020304" pitchFamily="18" charset="0"/>
              <a:cs typeface="Times New Roman" panose="02020603050405020304" pitchFamily="18" charset="0"/>
            </a:endParaRPr>
          </a:p>
          <a:p>
            <a:pPr>
              <a:spcBef>
                <a:spcPct val="0"/>
              </a:spcBef>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6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a:t>
            </a:r>
            <a:r>
              <a:rPr lang="en-US" sz="2800" b="1" dirty="0">
                <a:solidFill>
                  <a:schemeClr val="dk1"/>
                </a:solidFill>
                <a:latin typeface="Times New Roman"/>
                <a:ea typeface="Times New Roman"/>
                <a:cs typeface="Times New Roman"/>
                <a:sym typeface="Times New Roman"/>
              </a:rPr>
              <a:t>1</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4" name="Content Placeholder 4">
            <a:extLst>
              <a:ext uri="{FF2B5EF4-FFF2-40B4-BE49-F238E27FC236}">
                <a16:creationId xmlns:a16="http://schemas.microsoft.com/office/drawing/2014/main" id="{48A1EBB8-5369-8F9C-D6C7-FDEB631958DF}"/>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Effective against code obfuscation and compiler optimizations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Does not require manual feature engineering</a:t>
            </a:r>
            <a:endParaRPr lang="en-US" altLang="en-US" sz="2400" b="1" dirty="0">
              <a:solidFill>
                <a:srgbClr val="C00000"/>
              </a:solidFill>
              <a:latin typeface="Times New Roman" panose="02020603050405020304" pitchFamily="18" charset="0"/>
              <a:cs typeface="Times New Roman" panose="02020603050405020304" pitchFamily="18" charset="0"/>
            </a:endParaRPr>
          </a:p>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Works only on assembly instruction sequences; does not leverage structural information</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Performance degrades significantly in cross-architecture settings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8821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33335F25-069E-0D9C-00DA-5E247A63B9A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492F170B-892A-4412-DB6E-9580E34FCE76}"/>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58AA65A-8F85-81D4-A1CD-41E8495202ED}"/>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499BC808-6E09-4DF0-194A-B4BB6899964B}"/>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AECA1D50-3FAE-C1FE-C833-EAA366746A3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6829D7C8-5ECC-8957-3980-3C603B915DD9}"/>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7F31BE04-05C0-82EC-A231-7F071D37F4E3}"/>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BDB32B3E-007F-A3E0-0A3D-5E3BC449209E}"/>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D937FBB5-9F68-1E9A-F20A-04DE6C32C1B2}"/>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7D2FA03B-E464-E61B-0923-7A38B76AB082}"/>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- 2</a:t>
            </a:r>
          </a:p>
        </p:txBody>
      </p:sp>
      <p:sp>
        <p:nvSpPr>
          <p:cNvPr id="4" name="Content Placeholder 4">
            <a:extLst>
              <a:ext uri="{FF2B5EF4-FFF2-40B4-BE49-F238E27FC236}">
                <a16:creationId xmlns:a16="http://schemas.microsoft.com/office/drawing/2014/main" id="{410D5D7F-6149-B4C7-6792-A1A16A56FF4E}"/>
              </a:ext>
            </a:extLst>
          </p:cNvPr>
          <p:cNvSpPr txBox="1">
            <a:spLocks noChangeArrowheads="1"/>
          </p:cNvSpPr>
          <p:nvPr/>
        </p:nvSpPr>
        <p:spPr>
          <a:xfrm>
            <a:off x="238125" y="1530967"/>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Xu et al. (2017)</a:t>
            </a:r>
            <a:r>
              <a:rPr lang="en-US" sz="2400" dirty="0">
                <a:latin typeface="Times New Roman" panose="02020603050405020304" pitchFamily="18" charset="0"/>
                <a:cs typeface="Times New Roman" panose="02020603050405020304" pitchFamily="18" charset="0"/>
              </a:rPr>
              <a:t> proposed </a:t>
            </a:r>
            <a:r>
              <a:rPr lang="en-US" sz="2400" b="1" dirty="0">
                <a:latin typeface="Times New Roman" panose="02020603050405020304" pitchFamily="18" charset="0"/>
                <a:cs typeface="Times New Roman" panose="02020603050405020304" pitchFamily="18" charset="0"/>
              </a:rPr>
              <a:t>Gemini</a:t>
            </a:r>
            <a:r>
              <a:rPr lang="en-US" sz="2400" dirty="0">
                <a:latin typeface="Times New Roman" panose="02020603050405020304" pitchFamily="18" charset="0"/>
                <a:cs typeface="Times New Roman" panose="02020603050405020304" pitchFamily="18" charset="0"/>
              </a:rPr>
              <a:t>, a neural network-based graph embedding approach for cross-platform binary code similarity detection. It transforms the Control Flow Graph (CFG) of each binary function into an attributed CFG by attaching numerical features (instruction count, constants, etc.) to nodes, then uses Structure2vec to embed these graphs. Similarity is assessed using a </a:t>
            </a:r>
            <a:r>
              <a:rPr lang="en-US" sz="2400" dirty="0" err="1">
                <a:latin typeface="Times New Roman" panose="02020603050405020304" pitchFamily="18" charset="0"/>
                <a:cs typeface="Times New Roman" panose="02020603050405020304" pitchFamily="18" charset="0"/>
              </a:rPr>
              <a:t>siamese</a:t>
            </a:r>
            <a:r>
              <a:rPr lang="en-US" sz="2400" dirty="0">
                <a:latin typeface="Times New Roman" panose="02020603050405020304" pitchFamily="18" charset="0"/>
                <a:cs typeface="Times New Roman" panose="02020603050405020304" pitchFamily="18" charset="0"/>
              </a:rPr>
              <a:t> network architecture that compares two function embeddings.</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X. Xu, C. Liu, Q. Feng, H. Yin, L. Song, and D. Song, "Neural network-based graph embedding for cross-platform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ACM SIGSAC Conference on Computer and Communications Security</a:t>
            </a:r>
            <a:r>
              <a:rPr lang="en-US" sz="1600" dirty="0">
                <a:solidFill>
                  <a:srgbClr val="0000CC"/>
                </a:solidFill>
                <a:latin typeface="Times New Roman" panose="02020603050405020304" pitchFamily="18" charset="0"/>
                <a:cs typeface="Times New Roman" panose="02020603050405020304" pitchFamily="18" charset="0"/>
              </a:rPr>
              <a:t>, 2017, pp. 363–376.</a:t>
            </a:r>
          </a:p>
          <a:p>
            <a:pPr algn="just">
              <a:spcBef>
                <a:spcPct val="0"/>
              </a:spcBef>
              <a:tabLst>
                <a:tab pos="520700" algn="l"/>
              </a:tabLst>
              <a:defRPr/>
            </a:pPr>
            <a:endParaRPr lang="en-US" altLang="en-US" sz="2400" dirty="0">
              <a:latin typeface="Times New Roman" panose="02020603050405020304" pitchFamily="18" charset="0"/>
              <a:cs typeface="Times New Roman" panose="02020603050405020304" pitchFamily="18" charset="0"/>
            </a:endParaRPr>
          </a:p>
          <a:p>
            <a:pPr marL="762000" lvl="1" indent="-361950" algn="just">
              <a:spcBef>
                <a:spcPct val="0"/>
              </a:spcBef>
              <a:buFontTx/>
              <a:buNone/>
              <a:tabLst>
                <a:tab pos="361950" algn="l"/>
                <a:tab pos="520700" algn="l"/>
              </a:tabLst>
              <a:defRPr/>
            </a:pPr>
            <a:br>
              <a:rPr lang="en-IN" altLang="en-US" sz="2000" dirty="0">
                <a:latin typeface="Times New Roman" panose="02020603050405020304" pitchFamily="18" charset="0"/>
                <a:cs typeface="Times New Roman" panose="02020603050405020304" pitchFamily="18" charset="0"/>
              </a:rPr>
            </a:br>
            <a:endParaRPr lang="en-IN" altLang="en-US" sz="20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1885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62F86986-FA85-9CBD-CEA2-93448007FA9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C3296ED9-E48F-4E73-1287-9F9962413A56}"/>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42B84F92-9CF3-B25E-CACB-99F4B634CEBF}"/>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F75DB4C2-3DBC-44B9-BA8F-B9F090DF573C}"/>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58AFFFBB-67D1-7CA4-022A-B0A47DD27234}"/>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7959470-7EFF-34BD-B5F4-376D5EE1F37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1A175775-F63D-E3FA-1102-97E17CAB95BD}"/>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1642293A-5462-BD70-D557-017E551E34A0}"/>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7C417AC0-BFD8-29B6-46ED-DE564849BC3F}"/>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25043C5-C81A-1465-04E5-251E120BC1E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- 2</a:t>
            </a:r>
          </a:p>
        </p:txBody>
      </p:sp>
      <p:sp>
        <p:nvSpPr>
          <p:cNvPr id="4" name="Content Placeholder 4">
            <a:extLst>
              <a:ext uri="{FF2B5EF4-FFF2-40B4-BE49-F238E27FC236}">
                <a16:creationId xmlns:a16="http://schemas.microsoft.com/office/drawing/2014/main" id="{9164B110-7557-B9A1-3DF1-2C6D27784126}"/>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Captures structural information through CFG representation</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Effective for cross-platform (cross-architecture) detection</a:t>
            </a:r>
            <a:endParaRPr lang="en-US" altLang="en-US" sz="2400" b="1" dirty="0">
              <a:solidFill>
                <a:srgbClr val="C00000"/>
              </a:solidFill>
              <a:latin typeface="Times New Roman" panose="02020603050405020304" pitchFamily="18" charset="0"/>
              <a:cs typeface="Times New Roman" panose="02020603050405020304" pitchFamily="18" charset="0"/>
            </a:endParaRPr>
          </a:p>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Attributed CFG features are manually defined and may miss deeper semantics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Scalability issues with very large or complex CFGs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29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D5C5DE2-715E-F5A1-AC2E-99314B77C27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BCCDD55A-D819-1BEB-1787-7A4789690B7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8FD5220C-195F-4F0E-F5CC-485C4F856D5B}"/>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DB40BFD7-8514-FCFB-293F-6B80E80A0E33}"/>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38B6CE74-D3CB-6751-8066-A6EFB3FF9AF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0ABF6E4F-10D7-79FA-9A17-5032421E5D96}"/>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DE9917DA-BFE0-9E82-21CD-346F3D299CD8}"/>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705A09D5-BA5D-61C9-D083-25C26716A5C2}"/>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1810F2A7-23B6-7D25-F4A6-12EBFC53DCCF}"/>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09AE2ECB-1623-CD76-CE20-AD98D6D77DF2}"/>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- 3</a:t>
            </a:r>
          </a:p>
        </p:txBody>
      </p:sp>
      <p:sp>
        <p:nvSpPr>
          <p:cNvPr id="4" name="Content Placeholder 4">
            <a:extLst>
              <a:ext uri="{FF2B5EF4-FFF2-40B4-BE49-F238E27FC236}">
                <a16:creationId xmlns:a16="http://schemas.microsoft.com/office/drawing/2014/main" id="{B7033D20-6B26-02E9-D7B8-03D863214A5C}"/>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Massarelli et al. (2019)</a:t>
            </a:r>
            <a:r>
              <a:rPr lang="en-US" sz="2400" dirty="0">
                <a:latin typeface="Times New Roman" panose="02020603050405020304" pitchFamily="18" charset="0"/>
                <a:cs typeface="Times New Roman" panose="02020603050405020304" pitchFamily="18" charset="0"/>
              </a:rPr>
              <a:t> introduced </a:t>
            </a:r>
            <a:r>
              <a:rPr lang="en-US" sz="2400" b="1" dirty="0">
                <a:latin typeface="Times New Roman" panose="02020603050405020304" pitchFamily="18" charset="0"/>
                <a:cs typeface="Times New Roman" panose="02020603050405020304" pitchFamily="18" charset="0"/>
              </a:rPr>
              <a:t>SAFE (Self-Attentive Function Embeddings)</a:t>
            </a:r>
            <a:r>
              <a:rPr lang="en-US" sz="2400" dirty="0">
                <a:latin typeface="Times New Roman" panose="02020603050405020304" pitchFamily="18" charset="0"/>
                <a:cs typeface="Times New Roman" panose="02020603050405020304" pitchFamily="18" charset="0"/>
              </a:rPr>
              <a:t>, which generates embeddings directly from disassembled binary functions using a self-attentive neural network. The approach first trains a Word2Vec model on assembly instructions to learn instruction semantics, then feeds instruction sequences into a self-attention network to produce a fixed-size function embedding. No manual feature engineering or graph construction is required.</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L. Massarelli, G. A. Di Luna, F. Petroni, R. Baldoni, and L. </a:t>
            </a:r>
            <a:r>
              <a:rPr lang="en-US" sz="1600" dirty="0" err="1">
                <a:solidFill>
                  <a:srgbClr val="0000CC"/>
                </a:solidFill>
                <a:latin typeface="Times New Roman" panose="02020603050405020304" pitchFamily="18" charset="0"/>
                <a:cs typeface="Times New Roman" panose="02020603050405020304" pitchFamily="18" charset="0"/>
              </a:rPr>
              <a:t>Querzoni</a:t>
            </a:r>
            <a:r>
              <a:rPr lang="en-US" sz="1600" dirty="0">
                <a:solidFill>
                  <a:srgbClr val="0000CC"/>
                </a:solidFill>
                <a:latin typeface="Times New Roman" panose="02020603050405020304" pitchFamily="18" charset="0"/>
                <a:cs typeface="Times New Roman" panose="02020603050405020304" pitchFamily="18" charset="0"/>
              </a:rPr>
              <a:t>, "SAFE: Self-attentive function embeddings for binary similarity," </a:t>
            </a:r>
            <a:r>
              <a:rPr lang="en-US" sz="1600" i="1" dirty="0">
                <a:solidFill>
                  <a:srgbClr val="0000CC"/>
                </a:solidFill>
                <a:latin typeface="Times New Roman" panose="02020603050405020304" pitchFamily="18" charset="0"/>
                <a:cs typeface="Times New Roman" panose="02020603050405020304" pitchFamily="18" charset="0"/>
              </a:rPr>
              <a:t>International Conference on Detection of Intrusions and Malware, and Vulnerability Assessment (DIMVA)</a:t>
            </a:r>
            <a:r>
              <a:rPr lang="en-US" sz="1600" dirty="0">
                <a:solidFill>
                  <a:srgbClr val="0000CC"/>
                </a:solidFill>
                <a:latin typeface="Times New Roman" panose="02020603050405020304" pitchFamily="18" charset="0"/>
                <a:cs typeface="Times New Roman" panose="02020603050405020304" pitchFamily="18" charset="0"/>
              </a:rPr>
              <a:t>, 2019, pp. 309–329.</a:t>
            </a:r>
          </a:p>
          <a:p>
            <a:pPr marL="762000" lvl="1" indent="-361950">
              <a:spcBef>
                <a:spcPct val="0"/>
              </a:spcBef>
              <a:buFontTx/>
              <a:buNone/>
              <a:tabLst>
                <a:tab pos="361950" algn="l"/>
                <a:tab pos="520700" algn="l"/>
              </a:tabLst>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9349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C60222EB-99BE-DCC8-01DB-BB2289B73830}"/>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D87180DF-C8A4-BA42-7557-F6D0C0465247}"/>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945E721F-0F7B-D256-533C-715BDD528C1D}"/>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979C3C7-AFD8-800B-CFE8-EBC8DBAAD192}"/>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64F2E54C-692F-F9FD-B306-138A1E50AA90}"/>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BA36D50-A682-37E7-446E-7CC8A361292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6B85BD18-8C21-91AE-F33F-42440452124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9BAD0830-3620-DE3C-A447-CEAB2A50E56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31C242DD-74DE-7EEF-7235-9303D98EC540}"/>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1DB98B7-BE8F-0036-51B0-5EA317756F5D}"/>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- 3</a:t>
            </a:r>
          </a:p>
        </p:txBody>
      </p:sp>
      <p:sp>
        <p:nvSpPr>
          <p:cNvPr id="4" name="Content Placeholder 4">
            <a:extLst>
              <a:ext uri="{FF2B5EF4-FFF2-40B4-BE49-F238E27FC236}">
                <a16:creationId xmlns:a16="http://schemas.microsoft.com/office/drawing/2014/main" id="{D7C9A3C9-E68D-AA9D-6B09-1FAACEF5258A}"/>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Efficiently processes binary instructions without manual feature extraction</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Self-attention mechanism captures long-range dependencies in instruction sequences</a:t>
            </a:r>
            <a:endParaRPr lang="en-US" altLang="en-US" sz="2400" b="1" dirty="0">
              <a:solidFill>
                <a:srgbClr val="C00000"/>
              </a:solidFill>
              <a:latin typeface="Times New Roman" panose="02020603050405020304" pitchFamily="18" charset="0"/>
              <a:cs typeface="Times New Roman" panose="02020603050405020304" pitchFamily="18" charset="0"/>
            </a:endParaRP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Relies solely on instruction sequences; ignores structural (control flow) information</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Performance limited in cross-architecture scenarios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980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78B4769D-EF42-E63D-C59B-D879B9693BEC}"/>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30D13771-8F07-0C1C-1BE1-38DDBDB9CAF1}"/>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340D7AF9-3F10-DC0E-2B2A-04B6D57136B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B18EBE7-3F89-8D7F-5F34-99F89BF302A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BB92883D-7C88-2571-710B-47AE8591E72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C3831FF3-EC25-F2A6-E234-8C417D764B43}"/>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A59D4AA2-3938-E47E-C2AF-466B7429A23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87A96A41-414C-6421-3A8C-F9AE3EC1A726}"/>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10F85199-CDAB-AEDA-8ADB-335121F0D1D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D4ED8D6-2E43-DF83-97CF-A637050088B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- 4</a:t>
            </a:r>
          </a:p>
        </p:txBody>
      </p:sp>
      <p:sp>
        <p:nvSpPr>
          <p:cNvPr id="4" name="Content Placeholder 4">
            <a:extLst>
              <a:ext uri="{FF2B5EF4-FFF2-40B4-BE49-F238E27FC236}">
                <a16:creationId xmlns:a16="http://schemas.microsoft.com/office/drawing/2014/main" id="{ED1CB17B-8398-663B-4C76-9DF2D62E1782}"/>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Tian et al. (2021)</a:t>
            </a:r>
            <a:r>
              <a:rPr lang="en-US" sz="2400" dirty="0">
                <a:latin typeface="Times New Roman" panose="02020603050405020304" pitchFamily="18" charset="0"/>
                <a:cs typeface="Times New Roman" panose="02020603050405020304" pitchFamily="18" charset="0"/>
              </a:rPr>
              <a:t> proposed </a:t>
            </a:r>
            <a:r>
              <a:rPr lang="en-US" sz="2400" b="1" dirty="0" err="1">
                <a:latin typeface="Times New Roman" panose="02020603050405020304" pitchFamily="18" charset="0"/>
                <a:cs typeface="Times New Roman" panose="02020603050405020304" pitchFamily="18" charset="0"/>
              </a:rPr>
              <a:t>BinDeep</a:t>
            </a:r>
            <a:r>
              <a:rPr lang="en-US" sz="2400" dirty="0">
                <a:latin typeface="Times New Roman" panose="02020603050405020304" pitchFamily="18" charset="0"/>
                <a:cs typeface="Times New Roman" panose="02020603050405020304" pitchFamily="18" charset="0"/>
              </a:rPr>
              <a:t>, a deep learning approach combining CNN and LSTM within a </a:t>
            </a:r>
            <a:r>
              <a:rPr lang="en-US" sz="2400" dirty="0" err="1">
                <a:latin typeface="Times New Roman" panose="02020603050405020304" pitchFamily="18" charset="0"/>
                <a:cs typeface="Times New Roman" panose="02020603050405020304" pitchFamily="18" charset="0"/>
              </a:rPr>
              <a:t>siamese</a:t>
            </a:r>
            <a:r>
              <a:rPr lang="en-US" sz="2400" dirty="0">
                <a:latin typeface="Times New Roman" panose="02020603050405020304" pitchFamily="18" charset="0"/>
                <a:cs typeface="Times New Roman" panose="02020603050405020304" pitchFamily="18" charset="0"/>
              </a:rPr>
              <a:t> neural network for binary code similarity detection. Assembly instructions are first vectorized using Word2Vec, and the combined CNN-LSTM model extracts both local and sequential patterns from instruction sequences. The </a:t>
            </a:r>
            <a:r>
              <a:rPr lang="en-US" sz="2400" dirty="0" err="1">
                <a:latin typeface="Times New Roman" panose="02020603050405020304" pitchFamily="18" charset="0"/>
                <a:cs typeface="Times New Roman" panose="02020603050405020304" pitchFamily="18" charset="0"/>
              </a:rPr>
              <a:t>siamese</a:t>
            </a:r>
            <a:r>
              <a:rPr lang="en-US" sz="2400" dirty="0">
                <a:latin typeface="Times New Roman" panose="02020603050405020304" pitchFamily="18" charset="0"/>
                <a:cs typeface="Times New Roman" panose="02020603050405020304" pitchFamily="18" charset="0"/>
              </a:rPr>
              <a:t> architecture compares two functions by measuring the distance between their learned representations.</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D. Tian, X. Jia, R. Ma, S. Liu, W. Liu, and C. Hu, "</a:t>
            </a:r>
            <a:r>
              <a:rPr lang="en-US" sz="1600" dirty="0" err="1">
                <a:solidFill>
                  <a:srgbClr val="0000CC"/>
                </a:solidFill>
                <a:latin typeface="Times New Roman" panose="02020603050405020304" pitchFamily="18" charset="0"/>
                <a:cs typeface="Times New Roman" panose="02020603050405020304" pitchFamily="18" charset="0"/>
              </a:rPr>
              <a:t>BinDeep</a:t>
            </a:r>
            <a:r>
              <a:rPr lang="en-US" sz="1600" dirty="0">
                <a:solidFill>
                  <a:srgbClr val="0000CC"/>
                </a:solidFill>
                <a:latin typeface="Times New Roman" panose="02020603050405020304" pitchFamily="18" charset="0"/>
                <a:cs typeface="Times New Roman" panose="02020603050405020304" pitchFamily="18" charset="0"/>
              </a:rPr>
              <a:t>: A deep learning approach to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Expert Systems with Applications</a:t>
            </a:r>
            <a:r>
              <a:rPr lang="en-US" sz="1600" dirty="0">
                <a:solidFill>
                  <a:srgbClr val="0000CC"/>
                </a:solidFill>
                <a:latin typeface="Times New Roman" panose="02020603050405020304" pitchFamily="18" charset="0"/>
                <a:cs typeface="Times New Roman" panose="02020603050405020304" pitchFamily="18" charset="0"/>
              </a:rPr>
              <a:t>, vol. 168, 2021, Art. no. 114348.</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584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1768CB51-3C8E-CC84-9363-E4B95883324F}"/>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AEDDB783-910D-5A4E-5610-E4C090B5367E}"/>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B9893490-BE01-8E6C-41B4-6B9070D192C2}"/>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7FBBECA4-E068-9348-C8A9-F60EB36A1585}"/>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E4BE308D-5B4A-A0CD-3D76-45E9311558D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7CB44F52-9AF2-0EF2-2AE1-0208222BB5A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FC274316-1BB4-6D97-F278-AA2F250711F9}"/>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C3CAFB6-CDA1-452C-55D5-049A68219CB4}"/>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21FBD0EF-0C1B-2CCF-4457-2BE612BB1FAC}"/>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74FA00DA-27FD-1ECD-C580-291450B8D0B9}"/>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- 4</a:t>
            </a:r>
          </a:p>
        </p:txBody>
      </p:sp>
      <p:sp>
        <p:nvSpPr>
          <p:cNvPr id="4" name="Content Placeholder 4">
            <a:extLst>
              <a:ext uri="{FF2B5EF4-FFF2-40B4-BE49-F238E27FC236}">
                <a16:creationId xmlns:a16="http://schemas.microsoft.com/office/drawing/2014/main" id="{1F249818-4F10-674F-C5EE-DBFE9E66F081}"/>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Combines CNN and LSTM to capture both local features and sequential dependencies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Handles cross-architecture and cross-compiler scenarios effectively</a:t>
            </a:r>
            <a:endParaRPr lang="en-US" altLang="en-US" sz="2400" b="1" dirty="0">
              <a:solidFill>
                <a:srgbClr val="C00000"/>
              </a:solidFill>
              <a:latin typeface="Times New Roman" panose="02020603050405020304" pitchFamily="18" charset="0"/>
              <a:cs typeface="Times New Roman" panose="02020603050405020304" pitchFamily="18" charset="0"/>
            </a:endParaRP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Relies on instruction sequences; structural information from CFG is not utilized</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Training is computationally expensive for large binary datasets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9134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58C256EC-1C78-D0FA-0702-9C8D9C28E4FB}"/>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8D94E673-6E05-D3DD-16F0-658F97A56965}"/>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95AA867-0740-9129-B5BB-C56733880A46}"/>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3F2ED64F-9F78-9B80-55A6-94579209EBD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9B63810-6547-7A84-C8AE-28140E2EFBD1}"/>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B5A323A-EB28-9058-8126-BE1EDCA4ADBA}"/>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8601102-BFBE-DE63-5FA4-8F1336617E81}"/>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234CD6D7-8531-490C-3E32-07644F992FDA}"/>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C37F2266-383B-ED6E-7A99-58AEF7B69643}"/>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D5B57B78-FC9F-0F35-BDD4-99B2540ACDAF}"/>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- 5</a:t>
            </a:r>
          </a:p>
        </p:txBody>
      </p:sp>
      <p:sp>
        <p:nvSpPr>
          <p:cNvPr id="4" name="Content Placeholder 4">
            <a:extLst>
              <a:ext uri="{FF2B5EF4-FFF2-40B4-BE49-F238E27FC236}">
                <a16:creationId xmlns:a16="http://schemas.microsoft.com/office/drawing/2014/main" id="{FC255DD7-1EF2-C086-24B3-C0F9A2687F42}"/>
              </a:ext>
            </a:extLst>
          </p:cNvPr>
          <p:cNvSpPr txBox="1">
            <a:spLocks noChangeArrowheads="1"/>
          </p:cNvSpPr>
          <p:nvPr/>
        </p:nvSpPr>
        <p:spPr>
          <a:xfrm>
            <a:off x="500062" y="1607954"/>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Wang et al. (2022)</a:t>
            </a:r>
            <a:r>
              <a:rPr lang="en-US" sz="2400" dirty="0">
                <a:latin typeface="Times New Roman" panose="02020603050405020304" pitchFamily="18" charset="0"/>
                <a:cs typeface="Times New Roman" panose="02020603050405020304" pitchFamily="18" charset="0"/>
              </a:rPr>
              <a:t> proposed </a:t>
            </a:r>
            <a:r>
              <a:rPr lang="en-US" sz="2400" b="1" dirty="0" err="1">
                <a:latin typeface="Times New Roman" panose="02020603050405020304" pitchFamily="18" charset="0"/>
                <a:cs typeface="Times New Roman" panose="02020603050405020304" pitchFamily="18" charset="0"/>
              </a:rPr>
              <a:t>jTrans</a:t>
            </a:r>
            <a:r>
              <a:rPr lang="en-US" sz="2400" dirty="0">
                <a:latin typeface="Times New Roman" panose="02020603050405020304" pitchFamily="18" charset="0"/>
                <a:cs typeface="Times New Roman" panose="02020603050405020304" pitchFamily="18" charset="0"/>
              </a:rPr>
              <a:t>, a Transformer-based model enhanced with control flow information for binary code similarity detection. </a:t>
            </a:r>
            <a:r>
              <a:rPr lang="en-US" sz="2400" dirty="0" err="1">
                <a:latin typeface="Times New Roman" panose="02020603050405020304" pitchFamily="18" charset="0"/>
                <a:cs typeface="Times New Roman" panose="02020603050405020304" pitchFamily="18" charset="0"/>
              </a:rPr>
              <a:t>jTrans</a:t>
            </a:r>
            <a:r>
              <a:rPr lang="en-US" sz="2400" dirty="0">
                <a:latin typeface="Times New Roman" panose="02020603050405020304" pitchFamily="18" charset="0"/>
                <a:cs typeface="Times New Roman" panose="02020603050405020304" pitchFamily="18" charset="0"/>
              </a:rPr>
              <a:t> introduces a jump-aware token representation that encodes branch targets within instruction sequences, enabling the model to capture both sequential instruction semantics and control flow structure. A pretrained Transformer is fine-tuned on binary function pairs for similarity detection.</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H. Wang et al., "</a:t>
            </a:r>
            <a:r>
              <a:rPr lang="en-US" sz="1600" dirty="0" err="1">
                <a:solidFill>
                  <a:srgbClr val="0000CC"/>
                </a:solidFill>
                <a:latin typeface="Times New Roman" panose="02020603050405020304" pitchFamily="18" charset="0"/>
                <a:cs typeface="Times New Roman" panose="02020603050405020304" pitchFamily="18" charset="0"/>
              </a:rPr>
              <a:t>jTrans</a:t>
            </a:r>
            <a:r>
              <a:rPr lang="en-US" sz="1600" dirty="0">
                <a:solidFill>
                  <a:srgbClr val="0000CC"/>
                </a:solidFill>
                <a:latin typeface="Times New Roman" panose="02020603050405020304" pitchFamily="18" charset="0"/>
                <a:cs typeface="Times New Roman" panose="02020603050405020304" pitchFamily="18" charset="0"/>
              </a:rPr>
              <a:t>: Jump-aware transformer for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Proceedings of the 31st ACM SIGSOFT International Symposium on Software Testing and Analysis</a:t>
            </a:r>
            <a:r>
              <a:rPr lang="en-US" sz="1600" dirty="0">
                <a:solidFill>
                  <a:srgbClr val="0000CC"/>
                </a:solidFill>
                <a:latin typeface="Times New Roman" panose="02020603050405020304" pitchFamily="18" charset="0"/>
                <a:cs typeface="Times New Roman" panose="02020603050405020304" pitchFamily="18" charset="0"/>
              </a:rPr>
              <a:t>, 2022, pp. 1–13.</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067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09BB93C-99E6-EE25-34F1-B9A4454A18A3}"/>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2382F9D6-58CB-462D-ACC4-DE9F53E4830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F888EF0E-2EEE-8938-8ACC-5C0D21F287DF}"/>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3374CEA7-59E6-E7BA-877E-0B94AC50F34D}"/>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C81B36DD-BB85-3C8B-2CA3-B4F6382D5166}"/>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8ECEFED8-356C-0D3C-5D96-BE2E510C5E5A}"/>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BA0873E7-C983-1269-4002-F9D86F4BCA5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AF3C10EC-B357-2572-03B9-BE06BD770AE7}"/>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DA4C18AE-6CC5-BD6C-C000-9CF6BFBA80F3}"/>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7B7055E-41E4-8508-A067-A6A45361E20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- 5</a:t>
            </a:r>
          </a:p>
        </p:txBody>
      </p:sp>
      <p:sp>
        <p:nvSpPr>
          <p:cNvPr id="4" name="Content Placeholder 4">
            <a:extLst>
              <a:ext uri="{FF2B5EF4-FFF2-40B4-BE49-F238E27FC236}">
                <a16:creationId xmlns:a16="http://schemas.microsoft.com/office/drawing/2014/main" id="{2EF73C84-6B21-A936-A39A-E64862C1225B}"/>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Integrates control flow information into transformer-based embeddings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Pretraining enables transfer learning across different binary datasets</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Token length limitations of transformers restrict handling of very large functions</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Pretraining requires significant computational resources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861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3A6924BC-EBE3-B461-5BA6-029B439AEC4A}"/>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D769272-88AA-4362-BE4E-6FCEF407723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5BC818D-325C-511B-0E75-E8EEA55AA741}"/>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0181C93E-7AD6-D43E-C934-ADA969CCDABA}"/>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1CB6FB0-EBC7-B61C-950F-8C04DF4BD07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0B0550B-D32E-E586-0B7E-F224AF1D7EA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870D2FF9-B72F-F142-3E07-24A8DAD35A9C}"/>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039569D7-BEBA-53E5-8706-B1430524356E}"/>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68E455B5-73F3-6A8A-BE91-2B9606C81F8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F2957AF-518B-406F-82E0-83246721171D}"/>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- 6</a:t>
            </a:r>
          </a:p>
        </p:txBody>
      </p:sp>
      <p:sp>
        <p:nvSpPr>
          <p:cNvPr id="4" name="Content Placeholder 4">
            <a:extLst>
              <a:ext uri="{FF2B5EF4-FFF2-40B4-BE49-F238E27FC236}">
                <a16:creationId xmlns:a16="http://schemas.microsoft.com/office/drawing/2014/main" id="{E5D2F42E-A45B-DB11-51E2-4B5931448758}"/>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He et al. (2024)</a:t>
            </a:r>
            <a:r>
              <a:rPr lang="en-US" sz="2400" dirty="0">
                <a:latin typeface="Times New Roman" panose="02020603050405020304" pitchFamily="18" charset="0"/>
                <a:cs typeface="Times New Roman" panose="02020603050405020304" pitchFamily="18" charset="0"/>
              </a:rPr>
              <a:t> presented </a:t>
            </a:r>
            <a:r>
              <a:rPr lang="en-US" sz="2400" b="1" dirty="0" err="1">
                <a:latin typeface="Times New Roman" panose="02020603050405020304" pitchFamily="18" charset="0"/>
                <a:cs typeface="Times New Roman" panose="02020603050405020304" pitchFamily="18" charset="0"/>
              </a:rPr>
              <a:t>HermesSim</a:t>
            </a:r>
            <a:r>
              <a:rPr lang="en-US" sz="2400" dirty="0">
                <a:latin typeface="Times New Roman" panose="02020603050405020304" pitchFamily="18" charset="0"/>
                <a:cs typeface="Times New Roman" panose="02020603050405020304" pitchFamily="18" charset="0"/>
              </a:rPr>
              <a:t>, which argues that binary code should not be treated as natural language. It constructs semantics-oriented graphs from binary functions and processes them using Graph Neural Networks (GNNs) with a </a:t>
            </a:r>
            <a:r>
              <a:rPr lang="en-US" sz="2400" dirty="0" err="1">
                <a:latin typeface="Times New Roman" panose="02020603050405020304" pitchFamily="18" charset="0"/>
                <a:cs typeface="Times New Roman" panose="02020603050405020304" pitchFamily="18" charset="0"/>
              </a:rPr>
              <a:t>multihead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softmax</a:t>
            </a:r>
            <a:r>
              <a:rPr lang="en-US" sz="2400" dirty="0">
                <a:latin typeface="Times New Roman" panose="02020603050405020304" pitchFamily="18" charset="0"/>
                <a:cs typeface="Times New Roman" panose="02020603050405020304" pitchFamily="18" charset="0"/>
              </a:rPr>
              <a:t> aggregator to fuse node-level information into function-level embeddings. The approach explicitly models the semantic relationships between instructions at the graph level.</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H. He et al., "Code is not natural language: Unlock the power of semantics-oriented graph representation for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33rd USENIX Security Symposium</a:t>
            </a:r>
            <a:r>
              <a:rPr lang="en-US" sz="1600" dirty="0">
                <a:solidFill>
                  <a:srgbClr val="0000CC"/>
                </a:solidFill>
                <a:latin typeface="Times New Roman" panose="02020603050405020304" pitchFamily="18" charset="0"/>
                <a:cs typeface="Times New Roman" panose="02020603050405020304" pitchFamily="18" charset="0"/>
              </a:rPr>
              <a:t>, 2024, pp. 1759–1776.</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5669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5CD6CFD-A964-A403-69A1-2C4D52DC5F3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E9FFE669-56B5-5C68-0B52-D613D3CE0451}"/>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A65671A1-A433-F4A5-A38A-4B3AA70EDD4C}"/>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224BF00-7B2C-7C04-6963-47CB5FAE5B76}"/>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1913D2B-C3AA-CBD9-EC24-3B31DF5C042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D8BF828-4FF4-EA9F-DC63-8D3E16F82E2E}"/>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AB62401A-29A7-705D-FF38-985F76137996}"/>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D2E3FC2D-AC39-B06B-C099-B6CFF9EDAFFA}"/>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DE6D1BF3-B2E2-9D55-9430-46368D4CB56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DA54A8D7-4E34-A452-BC47-8A2B0933D3DF}"/>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- 6</a:t>
            </a:r>
          </a:p>
        </p:txBody>
      </p:sp>
      <p:sp>
        <p:nvSpPr>
          <p:cNvPr id="4" name="Content Placeholder 4">
            <a:extLst>
              <a:ext uri="{FF2B5EF4-FFF2-40B4-BE49-F238E27FC236}">
                <a16:creationId xmlns:a16="http://schemas.microsoft.com/office/drawing/2014/main" id="{5453237E-F3E8-379F-87F3-BBC49339915A}"/>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Captures rich semantic graph structure beyond simple instruction sequences</a:t>
            </a:r>
          </a:p>
          <a:p>
            <a:pPr marL="361950" indent="-361950" algn="just">
              <a:spcBef>
                <a:spcPct val="0"/>
              </a:spcBef>
              <a:buFont typeface="Arial" panose="020B0604020202020204" pitchFamily="34" charset="0"/>
              <a:buChar char="•"/>
              <a:tabLst>
                <a:tab pos="520700" algn="l"/>
              </a:tabLst>
              <a:defRPr/>
            </a:pPr>
            <a:r>
              <a:rPr lang="en-US" sz="2400" dirty="0" err="1">
                <a:latin typeface="Times New Roman" panose="02020603050405020304" pitchFamily="18" charset="0"/>
                <a:cs typeface="Times New Roman" panose="02020603050405020304" pitchFamily="18" charset="0"/>
              </a:rPr>
              <a:t>Multihead</a:t>
            </a:r>
            <a:r>
              <a:rPr lang="en-US" sz="2400" dirty="0">
                <a:latin typeface="Times New Roman" panose="02020603050405020304" pitchFamily="18" charset="0"/>
                <a:cs typeface="Times New Roman" panose="02020603050405020304" pitchFamily="18" charset="0"/>
              </a:rPr>
              <a:t> aggregation effectively fuses diverse structural features</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Graph construction overhead adds processing complexity</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Cross-architecture performance is affected by architectural differences in graph structures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1738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A84A477D-D6F6-5C32-0FFE-741B34B60EA3}"/>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8300CBD-9181-2949-6663-DB2433D04943}"/>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047D6164-0C8D-605F-2880-F0AAD81D3C3D}"/>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A7E69353-98B0-FF33-BFF4-012217667D84}"/>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4809B3F-38D1-5A35-FEAF-D192CB470C3A}"/>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D53DEB7-902E-5A72-AD79-30CE82498A46}"/>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2B7F1BC-033E-EC30-E820-6812A25044DB}"/>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90CE8BB-3673-1F56-4328-5E41C5059EB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13DDA3C8-34E2-3A01-DFFF-4E02DE3F3E07}"/>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4774763-AAC0-49AE-FFF7-85D4B2169FA1}"/>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- 7</a:t>
            </a:r>
          </a:p>
        </p:txBody>
      </p:sp>
      <p:sp>
        <p:nvSpPr>
          <p:cNvPr id="4" name="Content Placeholder 4">
            <a:extLst>
              <a:ext uri="{FF2B5EF4-FFF2-40B4-BE49-F238E27FC236}">
                <a16:creationId xmlns:a16="http://schemas.microsoft.com/office/drawing/2014/main" id="{B6A956D1-D31B-5E43-136B-8D263909A1A1}"/>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Luo et al. (2023)</a:t>
            </a:r>
            <a:r>
              <a:rPr lang="en-US" sz="2400" dirty="0">
                <a:latin typeface="Times New Roman" panose="02020603050405020304" pitchFamily="18" charset="0"/>
                <a:cs typeface="Times New Roman" panose="02020603050405020304" pitchFamily="18" charset="0"/>
              </a:rPr>
              <a:t> introduced </a:t>
            </a:r>
            <a:r>
              <a:rPr lang="en-US" sz="2400" b="1" dirty="0" err="1">
                <a:latin typeface="Times New Roman" panose="02020603050405020304" pitchFamily="18" charset="0"/>
                <a:cs typeface="Times New Roman" panose="02020603050405020304" pitchFamily="18" charset="0"/>
              </a:rPr>
              <a:t>VulHawk</a:t>
            </a:r>
            <a:r>
              <a:rPr lang="en-US" sz="2400" dirty="0">
                <a:latin typeface="Times New Roman" panose="02020603050405020304" pitchFamily="18" charset="0"/>
                <a:cs typeface="Times New Roman" panose="02020603050405020304" pitchFamily="18" charset="0"/>
              </a:rPr>
              <a:t>, a cross-architecture vulnerability detection system that uses microcode as a unified Intermediate Representation (IR) to reduce architecture-specific differences. A pretrained language model generates embeddings from the normalized microcode, enabling similarity-based vulnerability detection across different architectures. This IR-based approach mitigates the semantic loss caused by architecture-specific instruction sets.</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Z. Luo et al., "</a:t>
            </a:r>
            <a:r>
              <a:rPr lang="en-US" sz="1600" dirty="0" err="1">
                <a:solidFill>
                  <a:srgbClr val="0000CC"/>
                </a:solidFill>
                <a:latin typeface="Times New Roman" panose="02020603050405020304" pitchFamily="18" charset="0"/>
                <a:cs typeface="Times New Roman" panose="02020603050405020304" pitchFamily="18" charset="0"/>
              </a:rPr>
              <a:t>VulHawk</a:t>
            </a:r>
            <a:r>
              <a:rPr lang="en-US" sz="1600" dirty="0">
                <a:solidFill>
                  <a:srgbClr val="0000CC"/>
                </a:solidFill>
                <a:latin typeface="Times New Roman" panose="02020603050405020304" pitchFamily="18" charset="0"/>
                <a:cs typeface="Times New Roman" panose="02020603050405020304" pitchFamily="18" charset="0"/>
              </a:rPr>
              <a:t>: Cross-architecture vulnerability detection with entropy-based binary code search," </a:t>
            </a:r>
            <a:r>
              <a:rPr lang="en-US" sz="1600" i="1" dirty="0">
                <a:solidFill>
                  <a:srgbClr val="0000CC"/>
                </a:solidFill>
                <a:latin typeface="Times New Roman" panose="02020603050405020304" pitchFamily="18" charset="0"/>
                <a:cs typeface="Times New Roman" panose="02020603050405020304" pitchFamily="18" charset="0"/>
              </a:rPr>
              <a:t>Network and Distributed System Security Symposium (NDSS)</a:t>
            </a:r>
            <a:r>
              <a:rPr lang="en-US" sz="1600" dirty="0">
                <a:solidFill>
                  <a:srgbClr val="0000CC"/>
                </a:solidFill>
                <a:latin typeface="Times New Roman" panose="02020603050405020304" pitchFamily="18" charset="0"/>
                <a:cs typeface="Times New Roman" panose="02020603050405020304" pitchFamily="18" charset="0"/>
              </a:rPr>
              <a:t>, 2023, pp. 1–18.</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090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1C9E36F7-72AD-CDE1-767F-959FEB0F2654}"/>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0987340E-353E-E795-077A-0C3A6F021442}"/>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26A8BAF8-1DE9-D2D9-FEE2-9A21E8E25D9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05FB42BF-74F4-A855-AD4B-7A1326B45867}"/>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5F58A129-96FB-F94A-5DE9-714F42976000}"/>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A24F3FC1-FF1E-E908-3CA6-160EBFC58C3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5A3A516D-8731-501C-0BDC-F5D316BEF877}"/>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EFD2A01-80FB-2413-D2AD-DE1FD6DDBD53}"/>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55B5CADE-7487-5D89-3DA4-F3E7AA7C08C7}"/>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6FC166E0-B3D7-3E37-6A0A-5545E9D6679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- 7</a:t>
            </a:r>
          </a:p>
        </p:txBody>
      </p:sp>
      <p:sp>
        <p:nvSpPr>
          <p:cNvPr id="4" name="Content Placeholder 4">
            <a:extLst>
              <a:ext uri="{FF2B5EF4-FFF2-40B4-BE49-F238E27FC236}">
                <a16:creationId xmlns:a16="http://schemas.microsoft.com/office/drawing/2014/main" id="{295C8891-9DD2-87D5-4C27-BCFFDB029DFD}"/>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Microcode IR reduces architecture-specific differences effectively</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Entropy-based filtering improves detection efficiency</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Microcode generation may not preserve all high-level semantic information</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Cannot directly compare binary code with source code</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745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ED5A228-E659-9C27-529A-1B570C2FECA8}"/>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66C0A0D6-CE08-E075-8B07-B70E687E3B1D}"/>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939BF825-19AD-98C3-3D8E-9315EC060699}"/>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74BEB4A9-14B1-0316-2F5D-12BA51F76A31}"/>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C83FFED-9F97-5800-0B09-7814082356C4}"/>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FE70B63-CC21-84A7-F540-410F060409F9}"/>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C73BD7C-5DC3-40DF-73D9-CE24695C4C7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23C9B90E-32D4-54E0-43DF-D3C50C7A631C}"/>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C390F72F-5069-57D0-73FF-86C8E50E121E}"/>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F5DF3F2A-5083-75C4-8482-4015FE2E91E5}"/>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a:t>
            </a:r>
            <a:r>
              <a:rPr lang="en-US" sz="2800" b="1" dirty="0">
                <a:solidFill>
                  <a:schemeClr val="dk1"/>
                </a:solidFill>
                <a:latin typeface="Times New Roman"/>
                <a:ea typeface="Times New Roman"/>
                <a:cs typeface="Times New Roman"/>
                <a:sym typeface="Times New Roman"/>
              </a:rPr>
              <a:t>8</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4" name="Content Placeholder 4">
            <a:extLst>
              <a:ext uri="{FF2B5EF4-FFF2-40B4-BE49-F238E27FC236}">
                <a16:creationId xmlns:a16="http://schemas.microsoft.com/office/drawing/2014/main" id="{E9CE0AC8-9060-CCC0-6799-523E845528E2}"/>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400" b="1" dirty="0">
                <a:latin typeface="Times New Roman" panose="02020603050405020304" pitchFamily="18" charset="0"/>
                <a:cs typeface="Times New Roman" panose="02020603050405020304" pitchFamily="18" charset="0"/>
              </a:rPr>
              <a:t>Zhang et al. (2022)</a:t>
            </a:r>
            <a:r>
              <a:rPr lang="en-IN" sz="2400" dirty="0">
                <a:latin typeface="Times New Roman" panose="02020603050405020304" pitchFamily="18" charset="0"/>
                <a:cs typeface="Times New Roman" panose="02020603050405020304" pitchFamily="18" charset="0"/>
              </a:rPr>
              <a:t> proposed </a:t>
            </a:r>
            <a:r>
              <a:rPr lang="en-IN" sz="2400" b="1" dirty="0">
                <a:latin typeface="Times New Roman" panose="02020603050405020304" pitchFamily="18" charset="0"/>
                <a:cs typeface="Times New Roman" panose="02020603050405020304" pitchFamily="18" charset="0"/>
              </a:rPr>
              <a:t>UPPC</a:t>
            </a:r>
            <a:r>
              <a:rPr lang="en-IN" sz="2400" dirty="0">
                <a:latin typeface="Times New Roman" panose="02020603050405020304" pitchFamily="18" charset="0"/>
                <a:cs typeface="Times New Roman" panose="02020603050405020304" pitchFamily="18" charset="0"/>
              </a:rPr>
              <a:t>, which leverages pseudocode as an intermediate representation for binary code similarity detection. A deep pyramid convolutional neural network (DPCNN) is used to embed pseudocode and string literals extracted from binary functions. By using pseudocode a C-like IR generated by decompiles the approach operates at a higher abstraction level than assembly code, capturing more semantic context.</a:t>
            </a: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r>
              <a:rPr lang="en-IN" sz="1600" b="1" dirty="0">
                <a:solidFill>
                  <a:srgbClr val="0000CC"/>
                </a:solidFill>
                <a:latin typeface="Times New Roman" panose="02020603050405020304" pitchFamily="18" charset="0"/>
                <a:cs typeface="Times New Roman" panose="02020603050405020304" pitchFamily="18" charset="0"/>
              </a:rPr>
              <a:t>Reference:</a:t>
            </a:r>
            <a:r>
              <a:rPr lang="en-IN" sz="1600" dirty="0">
                <a:solidFill>
                  <a:srgbClr val="0000CC"/>
                </a:solidFill>
                <a:latin typeface="Times New Roman" panose="02020603050405020304" pitchFamily="18" charset="0"/>
                <a:cs typeface="Times New Roman" panose="02020603050405020304" pitchFamily="18" charset="0"/>
              </a:rPr>
              <a:t> W. Zhang, Z. Xu, Y. Xiao, and Y. Xue, "Unleashing the power of pseudocode for binary code similarity analysis," </a:t>
            </a:r>
            <a:r>
              <a:rPr lang="en-IN" sz="1600" i="1" dirty="0">
                <a:solidFill>
                  <a:srgbClr val="0000CC"/>
                </a:solidFill>
                <a:latin typeface="Times New Roman" panose="02020603050405020304" pitchFamily="18" charset="0"/>
                <a:cs typeface="Times New Roman" panose="02020603050405020304" pitchFamily="18" charset="0"/>
              </a:rPr>
              <a:t>Cybersecurity</a:t>
            </a:r>
            <a:r>
              <a:rPr lang="en-IN" sz="1600" dirty="0">
                <a:solidFill>
                  <a:srgbClr val="0000CC"/>
                </a:solidFill>
                <a:latin typeface="Times New Roman" panose="02020603050405020304" pitchFamily="18" charset="0"/>
                <a:cs typeface="Times New Roman" panose="02020603050405020304" pitchFamily="18" charset="0"/>
              </a:rPr>
              <a:t>, vol. 5, no. 1, p. 23, 2022.</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298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8BF9FD0-0090-EDCE-6C52-FC99165ABECA}"/>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D033D1C1-28F0-7E73-A987-B407EF16E77A}"/>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E3D2067-A00D-C59E-F0CC-079888545058}"/>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9020104E-D9B6-98BD-3705-67180079ED1F}"/>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67FF69C4-889C-9550-0945-51FC83A24A4C}"/>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8AC2E84-8627-E3D1-748A-A6EE231223B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9578226-28C1-07BF-9860-412843B3B410}"/>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4DDC1556-0B4A-6CCF-BAC7-A1C7FA0BF26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4B7F99A5-27D5-FA8B-F05B-36381301469A}"/>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DC2230E1-DF73-09B4-7E3F-C69290C71EDF}"/>
              </a:ext>
            </a:extLst>
          </p:cNvPr>
          <p:cNvSpPr txBox="1"/>
          <p:nvPr/>
        </p:nvSpPr>
        <p:spPr>
          <a:xfrm>
            <a:off x="2069680" y="953013"/>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- 8</a:t>
            </a:r>
          </a:p>
        </p:txBody>
      </p:sp>
      <p:sp>
        <p:nvSpPr>
          <p:cNvPr id="4" name="Content Placeholder 4">
            <a:extLst>
              <a:ext uri="{FF2B5EF4-FFF2-40B4-BE49-F238E27FC236}">
                <a16:creationId xmlns:a16="http://schemas.microsoft.com/office/drawing/2014/main" id="{C5D338FC-8D02-E51E-2833-02FA3441DFAA}"/>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Pseudocode provides a higher-level semantic abstraction than raw assembly</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String literals add additional context for similarity detection</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Pseudocode generated by </a:t>
            </a:r>
            <a:r>
              <a:rPr lang="en-US" sz="2400" dirty="0" err="1">
                <a:latin typeface="Times New Roman" panose="02020603050405020304" pitchFamily="18" charset="0"/>
                <a:cs typeface="Times New Roman" panose="02020603050405020304" pitchFamily="18" charset="0"/>
              </a:rPr>
              <a:t>decompilers</a:t>
            </a:r>
            <a:r>
              <a:rPr lang="en-US" sz="2400" dirty="0">
                <a:latin typeface="Times New Roman" panose="02020603050405020304" pitchFamily="18" charset="0"/>
                <a:cs typeface="Times New Roman" panose="02020603050405020304" pitchFamily="18" charset="0"/>
              </a:rPr>
              <a:t> is often imprecise or incomplete</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Does not exploit structural graph information (CFG/DFG)</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626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B4D3B816-0C5C-B047-1D62-D06D900FACA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E649CCA2-8009-82FE-FA4D-AC04E688A6E5}"/>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B5D3B10-9462-94A3-9E1C-F3D0160A7A34}"/>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82DDD891-F060-0A8E-6C72-DE04653FBCE1}"/>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0D86C10D-3A4D-6173-2F17-14B2F732F4F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456C527D-A7EC-437F-B850-11B231715813}"/>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3C780D9A-FF2A-AE77-29A9-7D1EDC2696EB}"/>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D779931-C9FB-9584-E6F5-27225EFBD1E2}"/>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3937C3A1-6351-8005-EF8C-F49EFCD82CA6}"/>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7B09A95-B361-5B57-957A-DB31D56B711A}"/>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- 9</a:t>
            </a:r>
          </a:p>
        </p:txBody>
      </p:sp>
      <p:sp>
        <p:nvSpPr>
          <p:cNvPr id="4" name="Content Placeholder 4">
            <a:extLst>
              <a:ext uri="{FF2B5EF4-FFF2-40B4-BE49-F238E27FC236}">
                <a16:creationId xmlns:a16="http://schemas.microsoft.com/office/drawing/2014/main" id="{780C7400-C001-5C2D-6B1B-C023BC354F87}"/>
              </a:ext>
            </a:extLst>
          </p:cNvPr>
          <p:cNvSpPr txBox="1">
            <a:spLocks noChangeArrowheads="1"/>
          </p:cNvSpPr>
          <p:nvPr/>
        </p:nvSpPr>
        <p:spPr>
          <a:xfrm>
            <a:off x="238125" y="1607954"/>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defRPr/>
            </a:pPr>
            <a:r>
              <a:rPr lang="en-US" altLang="en-US" sz="2400" b="1" dirty="0">
                <a:latin typeface="Times New Roman" panose="02020603050405020304" pitchFamily="18" charset="0"/>
                <a:cs typeface="Times New Roman" panose="02020603050405020304" pitchFamily="18" charset="0"/>
              </a:rPr>
              <a:t>Yang et al. </a:t>
            </a:r>
            <a:r>
              <a:rPr lang="en-US" altLang="en-US" sz="2400" dirty="0">
                <a:latin typeface="Times New Roman" panose="02020603050405020304" pitchFamily="18" charset="0"/>
                <a:cs typeface="Times New Roman" panose="02020603050405020304" pitchFamily="18" charset="0"/>
              </a:rPr>
              <a:t>(2023)proposed </a:t>
            </a:r>
            <a:r>
              <a:rPr lang="en-US" altLang="en-US" sz="2400" b="1" dirty="0">
                <a:latin typeface="Times New Roman" panose="02020603050405020304" pitchFamily="18" charset="0"/>
                <a:cs typeface="Times New Roman" panose="02020603050405020304" pitchFamily="18" charset="0"/>
              </a:rPr>
              <a:t>Asteria-Pro</a:t>
            </a:r>
            <a:r>
              <a:rPr lang="en-US" altLang="en-US" sz="2400" dirty="0">
                <a:latin typeface="Times New Roman" panose="02020603050405020304" pitchFamily="18" charset="0"/>
                <a:cs typeface="Times New Roman" panose="02020603050405020304" pitchFamily="18" charset="0"/>
              </a:rPr>
              <a:t>, an enhanced deep learning-based BCSD system that incorporates domain-specific knowledge. It uses prefiltering with lightweight features to quickly eliminate dissimilar function candidates, followed by a reordering module that leverages call graph relationships to refine rankings. This two-stage design significantly improves both efficiency and accuracy for large-scale binary similarity search.</a:t>
            </a:r>
          </a:p>
          <a:p>
            <a:pPr algn="just">
              <a:spcBef>
                <a:spcPct val="0"/>
              </a:spcBef>
              <a:buFontTx/>
              <a:buNone/>
              <a:tabLst>
                <a:tab pos="520700" algn="l"/>
              </a:tabLst>
              <a:defRPr/>
            </a:pPr>
            <a:endParaRPr lang="en-US" altLang="en-US" sz="2400" b="1"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r>
              <a:rPr lang="en-US" altLang="en-US" sz="1600" dirty="0">
                <a:solidFill>
                  <a:srgbClr val="0000CC"/>
                </a:solidFill>
                <a:latin typeface="Times New Roman" panose="02020603050405020304" pitchFamily="18" charset="0"/>
                <a:cs typeface="Times New Roman" panose="02020603050405020304" pitchFamily="18" charset="0"/>
              </a:rPr>
              <a:t>Reference: S. Yang et al., "Asteria-Pro: Enhancing deep learning-based binary code similarity detection by incorporating domain knowledge," ACM Transactions on Software Engineering and Methodology, vol. 33, no. 1, pp. 1–40, 2023.</a:t>
            </a:r>
            <a:endParaRPr lang="en-IN" altLang="en-US" sz="1600"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2797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BB40CFFD-934A-3769-E348-CCC22253280A}"/>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AA8B2BD4-61C2-A189-B58D-741391B35472}"/>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7DB2C86-07FC-B864-1554-9037E8835E4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197C25E-F2E8-09A9-445B-D4077C54C2D2}"/>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283E9B6-943B-DF4A-BEF5-D982F133BD47}"/>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2577ADE-9CBD-01F2-EBAE-49C69ED775B4}"/>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588108DA-F6DC-6004-16CC-A767D915327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CFD2DFF-9AA5-C2C3-63C1-DA5C8E3ACCAD}"/>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6D7B2816-96B3-4001-2204-9187844303F4}"/>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E8B22E3A-3012-6937-9551-343783523C68}"/>
              </a:ext>
            </a:extLst>
          </p:cNvPr>
          <p:cNvSpPr txBox="1"/>
          <p:nvPr/>
        </p:nvSpPr>
        <p:spPr>
          <a:xfrm>
            <a:off x="2069680" y="953013"/>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- 9</a:t>
            </a:r>
          </a:p>
        </p:txBody>
      </p:sp>
      <p:sp>
        <p:nvSpPr>
          <p:cNvPr id="4" name="Content Placeholder 4">
            <a:extLst>
              <a:ext uri="{FF2B5EF4-FFF2-40B4-BE49-F238E27FC236}">
                <a16:creationId xmlns:a16="http://schemas.microsoft.com/office/drawing/2014/main" id="{DAF84B74-44DB-610A-9283-EA17197792D1}"/>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Domain knowledge integration (call graph) improves ranking quality</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Prefiltering significantly reduces search space, improving scalability</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Relies on call graph which may be incomplete in stripped binaries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Still cannot directly compare binary code with source code</a:t>
            </a:r>
          </a:p>
        </p:txBody>
      </p:sp>
    </p:spTree>
    <p:extLst>
      <p:ext uri="{BB962C8B-B14F-4D97-AF65-F5344CB8AC3E}">
        <p14:creationId xmlns:p14="http://schemas.microsoft.com/office/powerpoint/2010/main" val="2564137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AB327B2-2F67-1BDE-C9AD-B26A4D6C6F36}"/>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FC87FDFB-CAEE-DAD7-E74A-38629B7C3F03}"/>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5049251-8863-E891-4DFB-CF2B313E360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B15533C6-AAAF-73E8-614A-C9CACDBA67B2}"/>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D2E01C8-3F4E-B79D-31AA-636F86C8118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3C32FE9F-6E08-B9BB-56ED-C4314BA651AC}"/>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870DEA5-6384-E1CD-51B6-19B43B6802E8}"/>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5C94546B-0A9F-1475-C874-42BAA4A56FC6}"/>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149E8568-C904-5A3A-8158-ADE3AACC4D18}"/>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CF3A387-9B4C-2EC9-63A7-47E5A8293AB3}"/>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- 10</a:t>
            </a:r>
          </a:p>
        </p:txBody>
      </p:sp>
      <p:sp>
        <p:nvSpPr>
          <p:cNvPr id="4" name="Content Placeholder 4">
            <a:extLst>
              <a:ext uri="{FF2B5EF4-FFF2-40B4-BE49-F238E27FC236}">
                <a16:creationId xmlns:a16="http://schemas.microsoft.com/office/drawing/2014/main" id="{77897230-ACB5-0F84-3723-F4BEF2904564}"/>
              </a:ext>
            </a:extLst>
          </p:cNvPr>
          <p:cNvSpPr txBox="1">
            <a:spLocks noChangeArrowheads="1"/>
          </p:cNvSpPr>
          <p:nvPr/>
        </p:nvSpPr>
        <p:spPr>
          <a:xfrm>
            <a:off x="238125" y="1607954"/>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defRPr/>
            </a:pPr>
            <a:r>
              <a:rPr lang="en-US" altLang="en-US" sz="2400" b="1" dirty="0">
                <a:latin typeface="Times New Roman" panose="02020603050405020304" pitchFamily="18" charset="0"/>
                <a:cs typeface="Times New Roman" panose="02020603050405020304" pitchFamily="18" charset="0"/>
              </a:rPr>
              <a:t>Gu et al. </a:t>
            </a:r>
            <a:r>
              <a:rPr lang="en-US" altLang="en-US" sz="2400" dirty="0">
                <a:latin typeface="Times New Roman" panose="02020603050405020304" pitchFamily="18" charset="0"/>
                <a:cs typeface="Times New Roman" panose="02020603050405020304" pitchFamily="18" charset="0"/>
              </a:rPr>
              <a:t>(2025) presented </a:t>
            </a:r>
            <a:r>
              <a:rPr lang="en-US" altLang="en-US" sz="2400" b="1" dirty="0" err="1">
                <a:latin typeface="Times New Roman" panose="02020603050405020304" pitchFamily="18" charset="0"/>
                <a:cs typeface="Times New Roman" panose="02020603050405020304" pitchFamily="18" charset="0"/>
              </a:rPr>
              <a:t>UniASM</a:t>
            </a:r>
            <a:r>
              <a:rPr lang="en-US" altLang="en-US" sz="2400" dirty="0">
                <a:latin typeface="Times New Roman" panose="02020603050405020304" pitchFamily="18" charset="0"/>
                <a:cs typeface="Times New Roman" panose="02020603050405020304" pitchFamily="18" charset="0"/>
              </a:rPr>
              <a:t>, a transformer-based binary code similarity detection approach that integrates token embeddings, positional embeddings, and segment embeddings through a unified Transformer architecture  without requiring task-specific fine-tuning. It treats binary code as a structured token stream and learns rich contextual representations during pretraining, enabling direct similarity comparison at inference time.</a:t>
            </a:r>
          </a:p>
          <a:p>
            <a:pPr algn="just">
              <a:spcBef>
                <a:spcPct val="0"/>
              </a:spcBef>
              <a:buFontTx/>
              <a:buNone/>
              <a:tabLst>
                <a:tab pos="520700" algn="l"/>
              </a:tabLst>
              <a:defRPr/>
            </a:pP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r>
              <a:rPr lang="en-US" altLang="en-US" sz="1600" dirty="0">
                <a:solidFill>
                  <a:srgbClr val="0000CC"/>
                </a:solidFill>
                <a:latin typeface="Times New Roman" panose="02020603050405020304" pitchFamily="18" charset="0"/>
                <a:cs typeface="Times New Roman" panose="02020603050405020304" pitchFamily="18" charset="0"/>
              </a:rPr>
              <a:t>Reference: Y. Gu, H. Shu, F. Kang, and F. Hu, </a:t>
            </a:r>
            <a:r>
              <a:rPr lang="en-US" altLang="en-US" sz="1600" dirty="0" err="1">
                <a:solidFill>
                  <a:srgbClr val="0000CC"/>
                </a:solidFill>
                <a:latin typeface="Times New Roman" panose="02020603050405020304" pitchFamily="18" charset="0"/>
                <a:cs typeface="Times New Roman" panose="02020603050405020304" pitchFamily="18" charset="0"/>
              </a:rPr>
              <a:t>UniASM</a:t>
            </a:r>
            <a:r>
              <a:rPr lang="en-US" altLang="en-US" sz="1600" dirty="0">
                <a:solidFill>
                  <a:srgbClr val="0000CC"/>
                </a:solidFill>
                <a:latin typeface="Times New Roman" panose="02020603050405020304" pitchFamily="18" charset="0"/>
                <a:cs typeface="Times New Roman" panose="02020603050405020304" pitchFamily="18" charset="0"/>
              </a:rPr>
              <a:t>: Binary code similarity detection without fine-tuning," Neurocomputing, vol. 630, 2025, Art. no. 129646.</a:t>
            </a:r>
            <a:endParaRPr lang="en-IN" altLang="en-US" sz="1600"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7757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ADEC19CF-C7C7-822F-A81D-A8E149961D00}"/>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6C49B39D-4B54-DD2D-F18C-89220A4985EE}"/>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E11F7796-568A-5F98-AAC5-1E517B6E28A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7311950A-374A-533F-AB14-AAF91D76B33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0D3A282-FB87-7963-5CAB-B8A7812B8C7E}"/>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8A3D3EC8-A12B-3C1E-98C1-228ED11ED3BE}"/>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CED754BE-984E-20F5-584B-B4498B433B4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D9EBB75-E552-67FD-2CB8-B15364A13AC3}"/>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DEC51197-4B74-7B8E-2ACD-0141C67A1ED0}"/>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F4CB8A13-12C2-5371-1F28-92019014733F}"/>
              </a:ext>
            </a:extLst>
          </p:cNvPr>
          <p:cNvSpPr txBox="1"/>
          <p:nvPr/>
        </p:nvSpPr>
        <p:spPr>
          <a:xfrm>
            <a:off x="2069680" y="953013"/>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- 10</a:t>
            </a:r>
          </a:p>
        </p:txBody>
      </p:sp>
      <p:sp>
        <p:nvSpPr>
          <p:cNvPr id="4" name="Content Placeholder 4">
            <a:extLst>
              <a:ext uri="{FF2B5EF4-FFF2-40B4-BE49-F238E27FC236}">
                <a16:creationId xmlns:a16="http://schemas.microsoft.com/office/drawing/2014/main" id="{3B243808-FB31-4CFB-21D2-EFBA7DF51131}"/>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Eliminates the need for task-specific fine-tuning, enabling plug-and-play use</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Segment embeddings capture function-level structural boundaries</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Pretraining is resource-intensive and architecture-specific</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Cross-architecture generalization remains a challenge without fine-tuning on target architecture data</a:t>
            </a:r>
          </a:p>
        </p:txBody>
      </p:sp>
    </p:spTree>
    <p:extLst>
      <p:ext uri="{BB962C8B-B14F-4D97-AF65-F5344CB8AC3E}">
        <p14:creationId xmlns:p14="http://schemas.microsoft.com/office/powerpoint/2010/main" val="981125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456543" y="891458"/>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p>
        </p:txBody>
      </p:sp>
      <p:graphicFrame>
        <p:nvGraphicFramePr>
          <p:cNvPr id="2" name="Table 1">
            <a:extLst>
              <a:ext uri="{FF2B5EF4-FFF2-40B4-BE49-F238E27FC236}">
                <a16:creationId xmlns:a16="http://schemas.microsoft.com/office/drawing/2014/main" id="{0446ADFE-F3F8-6CE9-2121-513F9912AEC6}"/>
              </a:ext>
            </a:extLst>
          </p:cNvPr>
          <p:cNvGraphicFramePr>
            <a:graphicFrameLocks noGrp="1"/>
          </p:cNvGraphicFramePr>
          <p:nvPr>
            <p:extLst>
              <p:ext uri="{D42A27DB-BD31-4B8C-83A1-F6EECF244321}">
                <p14:modId xmlns:p14="http://schemas.microsoft.com/office/powerpoint/2010/main" val="2945282859"/>
              </p:ext>
            </p:extLst>
          </p:nvPr>
        </p:nvGraphicFramePr>
        <p:xfrm>
          <a:off x="232600" y="1953871"/>
          <a:ext cx="8396897" cy="4351941"/>
        </p:xfrm>
        <a:graphic>
          <a:graphicData uri="http://schemas.openxmlformats.org/drawingml/2006/table">
            <a:tbl>
              <a:tblPr firstRow="1" bandRow="1">
                <a:tableStyleId>{616DA210-FB5B-4158-B5E0-FEB733F419BA}</a:tableStyleId>
              </a:tblPr>
              <a:tblGrid>
                <a:gridCol w="530242">
                  <a:extLst>
                    <a:ext uri="{9D8B030D-6E8A-4147-A177-3AD203B41FA5}">
                      <a16:colId xmlns:a16="http://schemas.microsoft.com/office/drawing/2014/main" val="20000"/>
                    </a:ext>
                  </a:extLst>
                </a:gridCol>
                <a:gridCol w="1623508">
                  <a:extLst>
                    <a:ext uri="{9D8B030D-6E8A-4147-A177-3AD203B41FA5}">
                      <a16:colId xmlns:a16="http://schemas.microsoft.com/office/drawing/2014/main" val="20001"/>
                    </a:ext>
                  </a:extLst>
                </a:gridCol>
                <a:gridCol w="3188676">
                  <a:extLst>
                    <a:ext uri="{9D8B030D-6E8A-4147-A177-3AD203B41FA5}">
                      <a16:colId xmlns:a16="http://schemas.microsoft.com/office/drawing/2014/main" val="20002"/>
                    </a:ext>
                  </a:extLst>
                </a:gridCol>
                <a:gridCol w="3054471">
                  <a:extLst>
                    <a:ext uri="{9D8B030D-6E8A-4147-A177-3AD203B41FA5}">
                      <a16:colId xmlns:a16="http://schemas.microsoft.com/office/drawing/2014/main" val="20003"/>
                    </a:ext>
                  </a:extLst>
                </a:gridCol>
              </a:tblGrid>
              <a:tr h="694373">
                <a:tc>
                  <a:txBody>
                    <a:bodyPr/>
                    <a:lstStyle/>
                    <a:p>
                      <a:pPr algn="ctr"/>
                      <a:r>
                        <a:rPr lang="en-IN" sz="1800" dirty="0" err="1">
                          <a:latin typeface="Times New Roman" panose="02020603050405020304" pitchFamily="18" charset="0"/>
                          <a:cs typeface="Times New Roman" panose="02020603050405020304" pitchFamily="18" charset="0"/>
                        </a:rPr>
                        <a:t>S.No</a:t>
                      </a:r>
                      <a:r>
                        <a:rPr lang="en-IN" sz="1800" dirty="0"/>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t>Author(s) &amp; Year</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t>Methodology</a:t>
                      </a:r>
                      <a:r>
                        <a:rPr lang="en-IN" sz="1800" baseline="0" dirty="0"/>
                        <a:t> used</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t>Limitations</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0"/>
                  </a:ext>
                </a:extLst>
              </a:tr>
              <a:tr h="694373">
                <a:tc>
                  <a:txBody>
                    <a:bodyPr/>
                    <a:lstStyle/>
                    <a:p>
                      <a:r>
                        <a:rPr lang="en-US" sz="1800" dirty="0"/>
                        <a:t>1.</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Xu et al. (2017)</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Graph embedding on attributed CFG using Structure2vec (Gemini)</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Manual feature design; scalability issues</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694373">
                <a:tc>
                  <a:txBody>
                    <a:bodyPr/>
                    <a:lstStyle/>
                    <a:p>
                      <a:r>
                        <a:rPr lang="en-US" sz="1800" dirty="0"/>
                        <a:t>2.</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Ding et al. (2019)</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PV-DM-based assembly instruction embedding (Asm2Vec)</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Poor cross-architecture performance; ignores structural info</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r h="694373">
                <a:tc>
                  <a:txBody>
                    <a:bodyPr/>
                    <a:lstStyle/>
                    <a:p>
                      <a:r>
                        <a:rPr lang="en-US" sz="1800" dirty="0"/>
                        <a:t>3.</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Massarelli et al. (2019)</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Word2Vec , self-attentive network on assembly sequences (SAFE)</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No structural info; limited cross-architecture support</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3"/>
                  </a:ext>
                </a:extLst>
              </a:tr>
              <a:tr h="694373">
                <a:tc>
                  <a:txBody>
                    <a:bodyPr/>
                    <a:lstStyle/>
                    <a:p>
                      <a:r>
                        <a:rPr lang="en-US" sz="1800" dirty="0"/>
                        <a:t>4.</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Tian et al. (2021)</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CNN + LSTM </a:t>
                      </a:r>
                      <a:r>
                        <a:rPr lang="en-US" sz="1800" dirty="0" err="1">
                          <a:latin typeface="Times New Roman" panose="02020603050405020304" pitchFamily="18" charset="0"/>
                          <a:cs typeface="Times New Roman" panose="02020603050405020304" pitchFamily="18" charset="0"/>
                        </a:rPr>
                        <a:t>siamese</a:t>
                      </a:r>
                      <a:r>
                        <a:rPr lang="en-US" sz="1800" dirty="0">
                          <a:latin typeface="Times New Roman" panose="02020603050405020304" pitchFamily="18" charset="0"/>
                          <a:cs typeface="Times New Roman" panose="02020603050405020304" pitchFamily="18" charset="0"/>
                        </a:rPr>
                        <a:t> network on Word2Vec instructions (</a:t>
                      </a:r>
                      <a:r>
                        <a:rPr lang="en-US" sz="1800" dirty="0" err="1">
                          <a:latin typeface="Times New Roman" panose="02020603050405020304" pitchFamily="18" charset="0"/>
                          <a:cs typeface="Times New Roman" panose="02020603050405020304" pitchFamily="18" charset="0"/>
                        </a:rPr>
                        <a:t>BinDeep</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No CFG; computationally expensive</a:t>
                      </a:r>
                    </a:p>
                  </a:txBody>
                  <a:tcPr marL="91447" marR="91447" marT="45716" marB="45716"/>
                </a:tc>
                <a:extLst>
                  <a:ext uri="{0D108BD9-81ED-4DB2-BD59-A6C34878D82A}">
                    <a16:rowId xmlns:a16="http://schemas.microsoft.com/office/drawing/2014/main" val="10004"/>
                  </a:ext>
                </a:extLst>
              </a:tr>
            </a:tbl>
          </a:graphicData>
        </a:graphic>
      </p:graphicFrame>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24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8589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C8BF7778-81B5-0FC2-300C-156FC291CFF5}"/>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7F9B77B3-31EA-98A2-F4FF-6B41A2978137}"/>
              </a:ext>
            </a:extLst>
          </p:cNvPr>
          <p:cNvPicPr preferRelativeResize="0"/>
          <p:nvPr/>
        </p:nvPicPr>
        <p:blipFill rotWithShape="1">
          <a:blip r:embed="rId3">
            <a:alphaModFix/>
          </a:blip>
          <a:srcRect/>
          <a:stretch/>
        </p:blipFill>
        <p:spPr>
          <a:xfrm>
            <a:off x="0" y="6541477"/>
            <a:ext cx="9144000" cy="307975"/>
          </a:xfrm>
          <a:prstGeom prst="rect">
            <a:avLst/>
          </a:prstGeom>
          <a:noFill/>
          <a:ln>
            <a:noFill/>
          </a:ln>
        </p:spPr>
      </p:pic>
      <p:sp>
        <p:nvSpPr>
          <p:cNvPr id="135" name="Google Shape;135;p2">
            <a:extLst>
              <a:ext uri="{FF2B5EF4-FFF2-40B4-BE49-F238E27FC236}">
                <a16:creationId xmlns:a16="http://schemas.microsoft.com/office/drawing/2014/main" id="{9E8DFA99-6FB8-0213-B16F-BDF7133106C3}"/>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1880822D-27FA-FE01-4A9A-9877C99B42F4}"/>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009BF3B-B126-32B1-CE62-584654FD8B4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093F0EE-66BA-927A-AE08-ED946C27116F}"/>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D01F63D4-979D-C03E-DF48-53CD1A9EECD3}"/>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2AED2ECE-152A-AC00-B194-13EE27F94E95}"/>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60614B46-F0E2-42E8-964B-6558906391E1}"/>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4BB9AED-2515-F332-33D2-80F2A3566975}"/>
              </a:ext>
            </a:extLst>
          </p:cNvPr>
          <p:cNvSpPr txBox="1"/>
          <p:nvPr/>
        </p:nvSpPr>
        <p:spPr>
          <a:xfrm>
            <a:off x="2456543" y="891458"/>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p>
        </p:txBody>
      </p:sp>
      <p:graphicFrame>
        <p:nvGraphicFramePr>
          <p:cNvPr id="2" name="Table 1">
            <a:extLst>
              <a:ext uri="{FF2B5EF4-FFF2-40B4-BE49-F238E27FC236}">
                <a16:creationId xmlns:a16="http://schemas.microsoft.com/office/drawing/2014/main" id="{3F959AEF-D7C2-4D62-050B-EC5A48789B68}"/>
              </a:ext>
            </a:extLst>
          </p:cNvPr>
          <p:cNvGraphicFramePr>
            <a:graphicFrameLocks noGrp="1"/>
          </p:cNvGraphicFramePr>
          <p:nvPr>
            <p:extLst>
              <p:ext uri="{D42A27DB-BD31-4B8C-83A1-F6EECF244321}">
                <p14:modId xmlns:p14="http://schemas.microsoft.com/office/powerpoint/2010/main" val="4138899787"/>
              </p:ext>
            </p:extLst>
          </p:nvPr>
        </p:nvGraphicFramePr>
        <p:xfrm>
          <a:off x="214312" y="1992001"/>
          <a:ext cx="8396897" cy="4131922"/>
        </p:xfrm>
        <a:graphic>
          <a:graphicData uri="http://schemas.openxmlformats.org/drawingml/2006/table">
            <a:tbl>
              <a:tblPr firstRow="1" bandRow="1">
                <a:tableStyleId>{ED083AE6-46FA-4A59-8FB0-9F97EB10719F}</a:tableStyleId>
              </a:tblPr>
              <a:tblGrid>
                <a:gridCol w="547688">
                  <a:extLst>
                    <a:ext uri="{9D8B030D-6E8A-4147-A177-3AD203B41FA5}">
                      <a16:colId xmlns:a16="http://schemas.microsoft.com/office/drawing/2014/main" val="20000"/>
                    </a:ext>
                  </a:extLst>
                </a:gridCol>
                <a:gridCol w="1606062">
                  <a:extLst>
                    <a:ext uri="{9D8B030D-6E8A-4147-A177-3AD203B41FA5}">
                      <a16:colId xmlns:a16="http://schemas.microsoft.com/office/drawing/2014/main" val="20001"/>
                    </a:ext>
                  </a:extLst>
                </a:gridCol>
                <a:gridCol w="3188676">
                  <a:extLst>
                    <a:ext uri="{9D8B030D-6E8A-4147-A177-3AD203B41FA5}">
                      <a16:colId xmlns:a16="http://schemas.microsoft.com/office/drawing/2014/main" val="20002"/>
                    </a:ext>
                  </a:extLst>
                </a:gridCol>
                <a:gridCol w="3054471">
                  <a:extLst>
                    <a:ext uri="{9D8B030D-6E8A-4147-A177-3AD203B41FA5}">
                      <a16:colId xmlns:a16="http://schemas.microsoft.com/office/drawing/2014/main" val="20003"/>
                    </a:ext>
                  </a:extLst>
                </a:gridCol>
              </a:tblGrid>
              <a:tr h="694373">
                <a:tc>
                  <a:txBody>
                    <a:bodyPr/>
                    <a:lstStyle/>
                    <a:p>
                      <a:pPr algn="ctr"/>
                      <a:r>
                        <a:rPr lang="en-IN" sz="1800" dirty="0" err="1">
                          <a:latin typeface="Times New Roman" panose="02020603050405020304" pitchFamily="18" charset="0"/>
                          <a:cs typeface="Times New Roman" panose="02020603050405020304" pitchFamily="18" charset="0"/>
                        </a:rPr>
                        <a:t>S.No</a:t>
                      </a:r>
                      <a:r>
                        <a:rPr lang="en-IN" sz="1800" dirty="0">
                          <a:latin typeface="Times New Roman" panose="02020603050405020304" pitchFamily="18" charset="0"/>
                          <a:cs typeface="Times New Roman" panose="02020603050405020304" pitchFamily="18" charset="0"/>
                        </a:rPr>
                        <a:t>.</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Author(s) &amp; Year</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Methodology</a:t>
                      </a:r>
                      <a:r>
                        <a:rPr lang="en-IN" sz="1800" baseline="0" dirty="0">
                          <a:latin typeface="Times New Roman" panose="02020603050405020304" pitchFamily="18" charset="0"/>
                          <a:cs typeface="Times New Roman" panose="02020603050405020304" pitchFamily="18" charset="0"/>
                        </a:rPr>
                        <a:t> used</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Limitations</a:t>
                      </a:r>
                    </a:p>
                  </a:txBody>
                  <a:tcPr marL="91447" marR="91447" marT="45716" marB="45716"/>
                </a:tc>
                <a:extLst>
                  <a:ext uri="{0D108BD9-81ED-4DB2-BD59-A6C34878D82A}">
                    <a16:rowId xmlns:a16="http://schemas.microsoft.com/office/drawing/2014/main" val="10000"/>
                  </a:ext>
                </a:extLst>
              </a:tr>
              <a:tr h="694373">
                <a:tc>
                  <a:txBody>
                    <a:bodyPr/>
                    <a:lstStyle/>
                    <a:p>
                      <a:r>
                        <a:rPr lang="en-US" sz="1800" dirty="0">
                          <a:latin typeface="Times New Roman" panose="02020603050405020304" pitchFamily="18" charset="0"/>
                          <a:cs typeface="Times New Roman" panose="02020603050405020304" pitchFamily="18" charset="0"/>
                        </a:rPr>
                        <a:t>5.</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Wang et al. (2022)</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Jump-aware Transformer with pretrained model (</a:t>
                      </a:r>
                      <a:r>
                        <a:rPr lang="en-US" sz="1800" dirty="0" err="1">
                          <a:latin typeface="Times New Roman" panose="02020603050405020304" pitchFamily="18" charset="0"/>
                          <a:cs typeface="Times New Roman" panose="02020603050405020304" pitchFamily="18" charset="0"/>
                        </a:rPr>
                        <a:t>jTrans</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Token length limits; high pretraining cost</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694373">
                <a:tc>
                  <a:txBody>
                    <a:bodyPr/>
                    <a:lstStyle/>
                    <a:p>
                      <a:r>
                        <a:rPr lang="en-US" sz="1800" dirty="0">
                          <a:latin typeface="Times New Roman" panose="02020603050405020304" pitchFamily="18" charset="0"/>
                          <a:cs typeface="Times New Roman" panose="02020603050405020304" pitchFamily="18" charset="0"/>
                        </a:rPr>
                        <a:t>6.</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Zhang et al. (2022)</a:t>
                      </a: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DPCNN on pseudocode and string literals (UPPC)</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Imprecise decompiled pseudocode; no structural graph use</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r h="694373">
                <a:tc>
                  <a:txBody>
                    <a:bodyPr/>
                    <a:lstStyle/>
                    <a:p>
                      <a:r>
                        <a:rPr lang="en-US" sz="1800" dirty="0">
                          <a:latin typeface="Times New Roman" panose="02020603050405020304" pitchFamily="18" charset="0"/>
                          <a:cs typeface="Times New Roman" panose="02020603050405020304" pitchFamily="18" charset="0"/>
                        </a:rPr>
                        <a:t>7.</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Luo et al. (2023)</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Microcode IR , pretrained LM for cross-arch detection (</a:t>
                      </a:r>
                      <a:r>
                        <a:rPr lang="en-US" sz="1800" dirty="0" err="1">
                          <a:latin typeface="Times New Roman" panose="02020603050405020304" pitchFamily="18" charset="0"/>
                          <a:cs typeface="Times New Roman" panose="02020603050405020304" pitchFamily="18" charset="0"/>
                        </a:rPr>
                        <a:t>VulHawk</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Microcode loses some semantics; no binary-source comparison</a:t>
                      </a:r>
                    </a:p>
                  </a:txBody>
                  <a:tcPr marL="91447" marR="91447" marT="45716" marB="45716"/>
                </a:tc>
                <a:extLst>
                  <a:ext uri="{0D108BD9-81ED-4DB2-BD59-A6C34878D82A}">
                    <a16:rowId xmlns:a16="http://schemas.microsoft.com/office/drawing/2014/main" val="10003"/>
                  </a:ext>
                </a:extLst>
              </a:tr>
              <a:tr h="694373">
                <a:tc>
                  <a:txBody>
                    <a:bodyPr/>
                    <a:lstStyle/>
                    <a:p>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Yang et al. (2023)</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Domain knowledge , prefiltering ,call graph reranking (Asteria-Pro)</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Incomplete call graphs; no binary-source comparison</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4"/>
                  </a:ext>
                </a:extLst>
              </a:tr>
            </a:tbl>
          </a:graphicData>
        </a:graphic>
      </p:graphicFrame>
      <p:sp>
        <p:nvSpPr>
          <p:cNvPr id="3" name="Content Placeholder 4">
            <a:extLst>
              <a:ext uri="{FF2B5EF4-FFF2-40B4-BE49-F238E27FC236}">
                <a16:creationId xmlns:a16="http://schemas.microsoft.com/office/drawing/2014/main" id="{F59C0E7D-B611-140A-EF89-2179D55C4648}"/>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24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1070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371D1B3-D537-7424-9348-6DB9184403EF}"/>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F6192EE1-E4F5-655D-A49A-45FED5BEAD5B}"/>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0EEE158-C363-15D3-3ECA-3D3BEF8BCF05}"/>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C752EDE-566C-29D5-C33D-7BDBFFB653A9}"/>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95888E3-19CD-717F-E821-0975DA945569}"/>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249C650C-FF6C-9576-1B40-9D76E7F20694}"/>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E05ABD7-D4A4-3C58-708F-716088C9F09E}"/>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09D626E7-6BA8-4774-A564-6DB49B5BBAE5}"/>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FBFEF619-BE62-19F7-4DFA-D8254EC43D1D}"/>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CD14590A-0E45-7D94-9616-0987C67E80E7}"/>
              </a:ext>
            </a:extLst>
          </p:cNvPr>
          <p:cNvSpPr txBox="1"/>
          <p:nvPr/>
        </p:nvSpPr>
        <p:spPr>
          <a:xfrm>
            <a:off x="2456543" y="891458"/>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p>
        </p:txBody>
      </p:sp>
      <p:graphicFrame>
        <p:nvGraphicFramePr>
          <p:cNvPr id="2" name="Table 1">
            <a:extLst>
              <a:ext uri="{FF2B5EF4-FFF2-40B4-BE49-F238E27FC236}">
                <a16:creationId xmlns:a16="http://schemas.microsoft.com/office/drawing/2014/main" id="{C9D22A79-E166-782D-8CEF-CCD5AFE8B85D}"/>
              </a:ext>
            </a:extLst>
          </p:cNvPr>
          <p:cNvGraphicFramePr>
            <a:graphicFrameLocks noGrp="1"/>
          </p:cNvGraphicFramePr>
          <p:nvPr>
            <p:extLst>
              <p:ext uri="{D42A27DB-BD31-4B8C-83A1-F6EECF244321}">
                <p14:modId xmlns:p14="http://schemas.microsoft.com/office/powerpoint/2010/main" val="277745777"/>
              </p:ext>
            </p:extLst>
          </p:nvPr>
        </p:nvGraphicFramePr>
        <p:xfrm>
          <a:off x="214312" y="1992001"/>
          <a:ext cx="8396897" cy="2523157"/>
        </p:xfrm>
        <a:graphic>
          <a:graphicData uri="http://schemas.openxmlformats.org/drawingml/2006/table">
            <a:tbl>
              <a:tblPr firstRow="1" bandRow="1">
                <a:tableStyleId>{ED083AE6-46FA-4A59-8FB0-9F97EB10719F}</a:tableStyleId>
              </a:tblPr>
              <a:tblGrid>
                <a:gridCol w="530242">
                  <a:extLst>
                    <a:ext uri="{9D8B030D-6E8A-4147-A177-3AD203B41FA5}">
                      <a16:colId xmlns:a16="http://schemas.microsoft.com/office/drawing/2014/main" val="20000"/>
                    </a:ext>
                  </a:extLst>
                </a:gridCol>
                <a:gridCol w="1623508">
                  <a:extLst>
                    <a:ext uri="{9D8B030D-6E8A-4147-A177-3AD203B41FA5}">
                      <a16:colId xmlns:a16="http://schemas.microsoft.com/office/drawing/2014/main" val="20001"/>
                    </a:ext>
                  </a:extLst>
                </a:gridCol>
                <a:gridCol w="3188676">
                  <a:extLst>
                    <a:ext uri="{9D8B030D-6E8A-4147-A177-3AD203B41FA5}">
                      <a16:colId xmlns:a16="http://schemas.microsoft.com/office/drawing/2014/main" val="20002"/>
                    </a:ext>
                  </a:extLst>
                </a:gridCol>
                <a:gridCol w="3054471">
                  <a:extLst>
                    <a:ext uri="{9D8B030D-6E8A-4147-A177-3AD203B41FA5}">
                      <a16:colId xmlns:a16="http://schemas.microsoft.com/office/drawing/2014/main" val="20003"/>
                    </a:ext>
                  </a:extLst>
                </a:gridCol>
              </a:tblGrid>
              <a:tr h="694373">
                <a:tc>
                  <a:txBody>
                    <a:bodyPr/>
                    <a:lstStyle/>
                    <a:p>
                      <a:pPr algn="ctr"/>
                      <a:r>
                        <a:rPr lang="en-IN" sz="1800" dirty="0" err="1">
                          <a:latin typeface="Times New Roman" panose="02020603050405020304" pitchFamily="18" charset="0"/>
                          <a:cs typeface="Times New Roman" panose="02020603050405020304" pitchFamily="18" charset="0"/>
                        </a:rPr>
                        <a:t>S.No</a:t>
                      </a:r>
                      <a:r>
                        <a:rPr lang="en-IN" sz="1800" dirty="0">
                          <a:latin typeface="Times New Roman" panose="02020603050405020304" pitchFamily="18" charset="0"/>
                          <a:cs typeface="Times New Roman" panose="02020603050405020304" pitchFamily="18" charset="0"/>
                        </a:rPr>
                        <a:t>.</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Author(s) &amp; Year</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Methodology</a:t>
                      </a:r>
                      <a:r>
                        <a:rPr lang="en-IN" sz="1800" baseline="0" dirty="0">
                          <a:latin typeface="Times New Roman" panose="02020603050405020304" pitchFamily="18" charset="0"/>
                          <a:cs typeface="Times New Roman" panose="02020603050405020304" pitchFamily="18" charset="0"/>
                        </a:rPr>
                        <a:t> used</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Limitations</a:t>
                      </a:r>
                    </a:p>
                  </a:txBody>
                  <a:tcPr marL="91447" marR="91447" marT="45716" marB="45716"/>
                </a:tc>
                <a:extLst>
                  <a:ext uri="{0D108BD9-81ED-4DB2-BD59-A6C34878D82A}">
                    <a16:rowId xmlns:a16="http://schemas.microsoft.com/office/drawing/2014/main" val="10000"/>
                  </a:ext>
                </a:extLst>
              </a:tr>
              <a:tr h="694373">
                <a:tc>
                  <a:txBody>
                    <a:bodyPr/>
                    <a:lstStyle/>
                    <a:p>
                      <a:r>
                        <a:rPr lang="en-IN" sz="1800" dirty="0">
                          <a:latin typeface="Times New Roman" panose="02020603050405020304" pitchFamily="18" charset="0"/>
                          <a:cs typeface="Times New Roman" panose="02020603050405020304" pitchFamily="18" charset="0"/>
                        </a:rPr>
                        <a:t>9.</a:t>
                      </a: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He et al. (2024)</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Semantics-oriented GNN with </a:t>
                      </a:r>
                      <a:r>
                        <a:rPr lang="en-US" sz="1800" dirty="0" err="1">
                          <a:latin typeface="Times New Roman" panose="02020603050405020304" pitchFamily="18" charset="0"/>
                          <a:cs typeface="Times New Roman" panose="02020603050405020304" pitchFamily="18" charset="0"/>
                        </a:rPr>
                        <a:t>multihead</a:t>
                      </a:r>
                      <a:r>
                        <a:rPr lang="en-US" sz="1800" dirty="0">
                          <a:latin typeface="Times New Roman" panose="02020603050405020304" pitchFamily="18" charset="0"/>
                          <a:cs typeface="Times New Roman" panose="02020603050405020304" pitchFamily="18" charset="0"/>
                        </a:rPr>
                        <a:t> aggregation (</a:t>
                      </a:r>
                      <a:r>
                        <a:rPr lang="en-US" sz="1800" dirty="0" err="1">
                          <a:latin typeface="Times New Roman" panose="02020603050405020304" pitchFamily="18" charset="0"/>
                          <a:cs typeface="Times New Roman" panose="02020603050405020304" pitchFamily="18" charset="0"/>
                        </a:rPr>
                        <a:t>HermesSim</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Graph construction overhead; cross-arch variability</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694373">
                <a:tc>
                  <a:txBody>
                    <a:bodyPr/>
                    <a:lstStyle/>
                    <a:p>
                      <a:r>
                        <a:rPr lang="en-IN" sz="1800" dirty="0">
                          <a:latin typeface="Times New Roman" panose="02020603050405020304" pitchFamily="18" charset="0"/>
                          <a:cs typeface="Times New Roman" panose="02020603050405020304" pitchFamily="18" charset="0"/>
                        </a:rPr>
                        <a:t>10.</a:t>
                      </a: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Gu et al. (2025)</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Unified Transformer with token/positional/segment embeddings (</a:t>
                      </a:r>
                      <a:r>
                        <a:rPr lang="en-US" sz="1800" dirty="0" err="1">
                          <a:latin typeface="Times New Roman" panose="02020603050405020304" pitchFamily="18" charset="0"/>
                          <a:cs typeface="Times New Roman" panose="02020603050405020304" pitchFamily="18" charset="0"/>
                        </a:rPr>
                        <a:t>UniASM</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Resource-heavy pretraining; cross-arch generalization limits</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bl>
          </a:graphicData>
        </a:graphic>
      </p:graphicFrame>
      <p:sp>
        <p:nvSpPr>
          <p:cNvPr id="3" name="Content Placeholder 4">
            <a:extLst>
              <a:ext uri="{FF2B5EF4-FFF2-40B4-BE49-F238E27FC236}">
                <a16:creationId xmlns:a16="http://schemas.microsoft.com/office/drawing/2014/main" id="{ACA7842E-40D4-1015-9A88-5520EA79E594}"/>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24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488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672772" y="733501"/>
            <a:ext cx="555534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Dataset Details</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200" dirty="0">
                <a:latin typeface="Times New Roman" panose="02020603050405020304" pitchFamily="18" charset="0"/>
                <a:cs typeface="Times New Roman" panose="02020603050405020304" pitchFamily="18" charset="0"/>
              </a:rPr>
              <a:t>The paper uses benchmark datasets commonly used for BCSD evaluation</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Dataset Characteristics</a:t>
            </a:r>
          </a:p>
          <a:p>
            <a:r>
              <a:rPr lang="en-IN" sz="2200" dirty="0">
                <a:latin typeface="Times New Roman" panose="02020603050405020304" pitchFamily="18" charset="0"/>
                <a:cs typeface="Times New Roman" panose="02020603050405020304" pitchFamily="18" charset="0"/>
              </a:rPr>
              <a:t>Functions compiled with:</a:t>
            </a:r>
          </a:p>
          <a:p>
            <a:pPr marL="342900" lvl="1"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Different compilers (GCC, Clang)</a:t>
            </a:r>
          </a:p>
          <a:p>
            <a:pPr marL="342900" lvl="1"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Multiple optimization levels (O0, O1, O2, O3)</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Cross-architecture binaries (e.g., x86, ARM)</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Large number of function pairs (similar &amp; dissimilar)</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Dataset Features</a:t>
            </a:r>
          </a:p>
          <a:p>
            <a:pPr marL="342900" indent="-342900">
              <a:buFont typeface="Arial" panose="020B0604020202020204" pitchFamily="34" charset="0"/>
              <a:buChar char="•"/>
            </a:pPr>
            <a:r>
              <a:rPr lang="en-IN" sz="2200" dirty="0" err="1">
                <a:latin typeface="Times New Roman" panose="02020603050405020304" pitchFamily="18" charset="0"/>
                <a:cs typeface="Times New Roman" panose="02020603050405020304" pitchFamily="18" charset="0"/>
              </a:rPr>
              <a:t>Labeled</a:t>
            </a:r>
            <a:r>
              <a:rPr lang="en-IN" sz="2200" dirty="0">
                <a:latin typeface="Times New Roman" panose="02020603050405020304" pitchFamily="18" charset="0"/>
                <a:cs typeface="Times New Roman" panose="02020603050405020304" pitchFamily="18" charset="0"/>
              </a:rPr>
              <a:t> function pairs (similar / non-similar)</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Multiple compilation configurations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Real-world open-source programs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Standard BCSD benchmarking datasets</a:t>
            </a:r>
          </a:p>
          <a:p>
            <a:pPr marL="342900" indent="-342900" algn="just">
              <a:spcBef>
                <a:spcPct val="0"/>
              </a:spcBef>
              <a:buFont typeface="Arial" panose="020B0604020202020204" pitchFamily="34" charset="0"/>
              <a:buChar char="•"/>
              <a:tabLst>
                <a:tab pos="520700" algn="l"/>
              </a:tabLst>
            </a:pPr>
            <a:endParaRPr lang="en-US" altLang="en-US" sz="22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9435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27EBED7-F1C7-A7D4-5AD7-F209EFD28CC4}"/>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8696A38-9787-5190-5F9A-87705581C94C}"/>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8C72AD4D-346E-5304-72A2-D9076D32E81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019A59C3-4D5E-76E0-236B-A231DE4D8C8B}"/>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C3B8FE1F-C9F1-42C1-FDA9-E7F270478D2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2E3D9C05-D9D1-BC09-226E-B36CCCCB823D}"/>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84C6AB5-07AE-BBBE-EB7A-AC1EC1EE2C62}"/>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BFFF9F1E-378E-7949-2716-4F5C52FA560F}"/>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FD83A3FB-E303-C464-5BF1-4B026C18D552}"/>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4B25168-0BE7-932C-C09E-F2E0DF5ADB71}"/>
              </a:ext>
            </a:extLst>
          </p:cNvPr>
          <p:cNvSpPr txBox="1"/>
          <p:nvPr/>
        </p:nvSpPr>
        <p:spPr>
          <a:xfrm>
            <a:off x="1672772" y="733501"/>
            <a:ext cx="5555343" cy="13849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System Design</a:t>
            </a:r>
            <a:endParaRPr lang="en-US" sz="2800" b="1"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3200"/>
              <a:buFont typeface="Times New Roman"/>
              <a:buNone/>
            </a:pPr>
            <a:r>
              <a:rPr lang="en-US" sz="2800" b="1" dirty="0">
                <a:solidFill>
                  <a:schemeClr val="dk1"/>
                </a:solidFill>
                <a:latin typeface="Times New Roman"/>
                <a:ea typeface="Times New Roman"/>
                <a:cs typeface="Times New Roman"/>
                <a:sym typeface="Times New Roman"/>
              </a:rPr>
              <a:t>Binary code analysis</a:t>
            </a:r>
            <a:endParaRPr lang="en-US" sz="2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dk1"/>
              </a:solidFill>
              <a:latin typeface="Times New Roman"/>
              <a:ea typeface="Times New Roman"/>
              <a:cs typeface="Times New Roman"/>
              <a:sym typeface="Times New Roman"/>
            </a:endParaRPr>
          </a:p>
        </p:txBody>
      </p:sp>
      <p:sp>
        <p:nvSpPr>
          <p:cNvPr id="3" name="Content Placeholder 4">
            <a:extLst>
              <a:ext uri="{FF2B5EF4-FFF2-40B4-BE49-F238E27FC236}">
                <a16:creationId xmlns:a16="http://schemas.microsoft.com/office/drawing/2014/main" id="{50A19400-DEE2-0A2C-D1D6-9EFC29C3D712}"/>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82297" y="1718679"/>
            <a:ext cx="6328003" cy="4276121"/>
          </a:xfrm>
          <a:prstGeom prst="rect">
            <a:avLst/>
          </a:prstGeom>
        </p:spPr>
      </p:pic>
    </p:spTree>
    <p:extLst>
      <p:ext uri="{BB962C8B-B14F-4D97-AF65-F5344CB8AC3E}">
        <p14:creationId xmlns:p14="http://schemas.microsoft.com/office/powerpoint/2010/main" val="3942492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672772" y="733501"/>
            <a:ext cx="555534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Working Environment</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205274"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417FAAE-3B9D-5BCE-96E6-DECC464B5CCE}"/>
              </a:ext>
            </a:extLst>
          </p:cNvPr>
          <p:cNvSpPr txBox="1"/>
          <p:nvPr/>
        </p:nvSpPr>
        <p:spPr>
          <a:xfrm>
            <a:off x="756444" y="1366303"/>
            <a:ext cx="7631112" cy="4708981"/>
          </a:xfrm>
          <a:prstGeom prst="rect">
            <a:avLst/>
          </a:prstGeom>
          <a:noFill/>
        </p:spPr>
        <p:txBody>
          <a:bodyPr wrap="square" rtlCol="0">
            <a:spAutoFit/>
          </a:bodyPr>
          <a:lstStyle/>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Hardware Requirements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System with minimum 8GB RAM (16GB recommended)</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GPU (optional but recommended for LLM processing)</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Software Requirements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Python</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Deep Learning Framework: </a:t>
            </a:r>
            <a:r>
              <a:rPr lang="en-IN" sz="2200" dirty="0" err="1">
                <a:latin typeface="Times New Roman" panose="02020603050405020304" pitchFamily="18" charset="0"/>
                <a:cs typeface="Times New Roman" panose="02020603050405020304" pitchFamily="18" charset="0"/>
              </a:rPr>
              <a:t>PyTorch</a:t>
            </a:r>
            <a:r>
              <a:rPr lang="en-IN" sz="2200" dirty="0">
                <a:latin typeface="Times New Roman" panose="02020603050405020304" pitchFamily="18" charset="0"/>
                <a:cs typeface="Times New Roman" panose="02020603050405020304" pitchFamily="18" charset="0"/>
              </a:rPr>
              <a:t> or TensorFlow</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LLM Models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Binary Analysis Tools: Disassembler (e.g., IDA Pro / </a:t>
            </a:r>
            <a:r>
              <a:rPr lang="en-IN" sz="2200" dirty="0" err="1">
                <a:latin typeface="Times New Roman" panose="02020603050405020304" pitchFamily="18" charset="0"/>
                <a:cs typeface="Times New Roman" panose="02020603050405020304" pitchFamily="18" charset="0"/>
              </a:rPr>
              <a:t>Ghidra</a:t>
            </a:r>
            <a:r>
              <a:rPr lang="en-IN" sz="22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Embedding similarity tools: Cosine similarity , </a:t>
            </a:r>
            <a:r>
              <a:rPr lang="en-IN" sz="2200" dirty="0" err="1">
                <a:latin typeface="Times New Roman" panose="02020603050405020304" pitchFamily="18" charset="0"/>
                <a:cs typeface="Times New Roman" panose="02020603050405020304" pitchFamily="18" charset="0"/>
              </a:rPr>
              <a:t>jaccard</a:t>
            </a:r>
            <a:r>
              <a:rPr lang="en-IN" sz="2200" dirty="0">
                <a:latin typeface="Times New Roman" panose="02020603050405020304" pitchFamily="18" charset="0"/>
                <a:cs typeface="Times New Roman" panose="02020603050405020304" pitchFamily="18" charset="0"/>
              </a:rPr>
              <a:t> similarity</a:t>
            </a:r>
          </a:p>
          <a:p>
            <a:endParaRPr lang="en-IN" dirty="0"/>
          </a:p>
        </p:txBody>
      </p:sp>
    </p:spTree>
    <p:extLst>
      <p:ext uri="{BB962C8B-B14F-4D97-AF65-F5344CB8AC3E}">
        <p14:creationId xmlns:p14="http://schemas.microsoft.com/office/powerpoint/2010/main" val="2371701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2">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2">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013"/>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rgbClr val="000000"/>
              </a:buClr>
              <a:buSzPts val="2500"/>
            </a:pPr>
            <a:r>
              <a:rPr lang="en-US" sz="2500" b="1" i="0" u="none" strike="noStrike" cap="none" dirty="0" err="1">
                <a:solidFill>
                  <a:srgbClr val="47FFD0"/>
                </a:solidFill>
                <a:latin typeface="Comic Sans MS"/>
                <a:ea typeface="Comic Sans MS"/>
                <a:cs typeface="Comic Sans MS"/>
                <a:sym typeface="Comic Sans MS"/>
              </a:rPr>
              <a:t>Mepco</a:t>
            </a:r>
            <a:r>
              <a:rPr lang="en-US" sz="2500" b="1" i="0" u="none" strike="noStrike" cap="none" dirty="0">
                <a:solidFill>
                  <a:srgbClr val="47FFD0"/>
                </a:solidFill>
                <a:latin typeface="Comic Sans MS"/>
                <a:ea typeface="Comic Sans MS"/>
                <a:cs typeface="Comic Sans MS"/>
                <a:sym typeface="Comic Sans MS"/>
              </a:rPr>
              <a:t> Schlenk Engineering College </a:t>
            </a:r>
            <a:r>
              <a:rPr lang="en-US" sz="1800" b="1" i="0" u="none" strike="noStrike" cap="none" dirty="0">
                <a:solidFill>
                  <a:srgbClr val="47FFD0"/>
                </a:solidFill>
                <a:latin typeface="Comic Sans MS"/>
                <a:ea typeface="Comic Sans MS"/>
                <a:cs typeface="Comic Sans MS"/>
                <a:sym typeface="Comic Sans MS"/>
              </a:rPr>
              <a:t>(Autonomous)</a:t>
            </a:r>
            <a:endParaRPr sz="1800" b="1" i="1" u="none" strike="noStrike" cap="none" dirty="0">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3">
            <a:alphaModFix/>
          </a:blip>
          <a:srcRect/>
          <a:stretch/>
        </p:blipFill>
        <p:spPr>
          <a:xfrm>
            <a:off x="8382000" y="47625"/>
            <a:ext cx="731838" cy="714375"/>
          </a:xfrm>
          <a:prstGeom prst="rect">
            <a:avLst/>
          </a:prstGeom>
          <a:noFill/>
          <a:ln>
            <a:noFill/>
          </a:ln>
        </p:spPr>
      </p:pic>
      <p:sp>
        <p:nvSpPr>
          <p:cNvPr id="142" name="Google Shape;142;p2"/>
          <p:cNvSpPr txBox="1"/>
          <p:nvPr/>
        </p:nvSpPr>
        <p:spPr>
          <a:xfrm>
            <a:off x="1221696" y="679300"/>
            <a:ext cx="700314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 Sustainable Development Goals</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13392" y="1603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200" b="1" dirty="0">
                <a:solidFill>
                  <a:srgbClr val="1F5C99"/>
                </a:solidFill>
                <a:latin typeface="Times New Roman" panose="02020603050405020304" pitchFamily="18" charset="0"/>
                <a:cs typeface="Times New Roman" panose="02020603050405020304" pitchFamily="18" charset="0"/>
              </a:rPr>
              <a:t>SDG 9 - Industry, Innovation and Infrastructure</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Promotes development of AI-based technologies</a:t>
            </a:r>
          </a:p>
          <a:p>
            <a:pPr marL="285750" indent="-285750">
              <a:buFont typeface="Arial" panose="020B0604020202020204" pitchFamily="34" charset="0"/>
              <a:buChar char="•"/>
            </a:pPr>
            <a:r>
              <a:rPr lang="fr-FR" sz="2200" dirty="0" err="1">
                <a:latin typeface="Times New Roman" panose="02020603050405020304" pitchFamily="18" charset="0"/>
                <a:cs typeface="Times New Roman" panose="02020603050405020304" pitchFamily="18" charset="0"/>
              </a:rPr>
              <a:t>Enhances</a:t>
            </a:r>
            <a:r>
              <a:rPr lang="fr-FR" sz="2200" dirty="0">
                <a:latin typeface="Times New Roman" panose="02020603050405020304" pitchFamily="18" charset="0"/>
                <a:cs typeface="Times New Roman" panose="02020603050405020304" pitchFamily="18" charset="0"/>
              </a:rPr>
              <a:t> digital infrastructure and automation</a:t>
            </a:r>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endParaRPr>
          </a:p>
          <a:p>
            <a:r>
              <a:rPr lang="en-US" sz="2200" b="1" dirty="0">
                <a:solidFill>
                  <a:srgbClr val="1F5C99"/>
                </a:solidFill>
                <a:latin typeface="Times New Roman" panose="02020603050405020304" pitchFamily="18" charset="0"/>
                <a:cs typeface="Times New Roman" panose="02020603050405020304" pitchFamily="18" charset="0"/>
              </a:rPr>
              <a:t>SDG 16 - Peace, Justice and Strong Institutions</a:t>
            </a:r>
          </a:p>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Strengthens cybersecurity mechanisms</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Helps detect malicious software and cyber threats</a:t>
            </a:r>
          </a:p>
          <a:p>
            <a:endParaRPr lang="en-US" sz="2200" dirty="0">
              <a:latin typeface="Times New Roman" panose="02020603050405020304" pitchFamily="18" charset="0"/>
            </a:endParaRPr>
          </a:p>
          <a:p>
            <a:r>
              <a:rPr lang="en-US" sz="2200" b="1" dirty="0">
                <a:solidFill>
                  <a:srgbClr val="1F5C99"/>
                </a:solidFill>
                <a:latin typeface="Times New Roman" panose="02020603050405020304" pitchFamily="18" charset="0"/>
                <a:cs typeface="Times New Roman" panose="02020603050405020304" pitchFamily="18" charset="0"/>
              </a:rPr>
              <a:t>SDG 17 - Partnerships for the Goals</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Supports learning tools for code analysis and reverse engineering</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Helps students understand low-level code</a:t>
            </a:r>
          </a:p>
        </p:txBody>
      </p:sp>
    </p:spTree>
    <p:extLst>
      <p:ext uri="{BB962C8B-B14F-4D97-AF65-F5344CB8AC3E}">
        <p14:creationId xmlns:p14="http://schemas.microsoft.com/office/powerpoint/2010/main" val="3969207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2">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2">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3">
            <a:alphaModFix/>
          </a:blip>
          <a:srcRect/>
          <a:stretch/>
        </p:blipFill>
        <p:spPr>
          <a:xfrm>
            <a:off x="8382000" y="47625"/>
            <a:ext cx="731838" cy="714375"/>
          </a:xfrm>
          <a:prstGeom prst="rect">
            <a:avLst/>
          </a:prstGeom>
          <a:noFill/>
          <a:ln>
            <a:noFill/>
          </a:ln>
        </p:spPr>
      </p:pic>
      <p:sp>
        <p:nvSpPr>
          <p:cNvPr id="142" name="Google Shape;142;p2"/>
          <p:cNvSpPr txBox="1"/>
          <p:nvPr/>
        </p:nvSpPr>
        <p:spPr>
          <a:xfrm>
            <a:off x="1221696" y="679300"/>
            <a:ext cx="700314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Definition and Description of Modules </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205127" y="1603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200" b="1" dirty="0">
                <a:solidFill>
                  <a:srgbClr val="1F5C99"/>
                </a:solidFill>
                <a:latin typeface="Times New Roman" panose="02020603050405020304" pitchFamily="18" charset="0"/>
              </a:rPr>
              <a:t>Module 1: Binary Code Representation</a:t>
            </a:r>
          </a:p>
          <a:p>
            <a:r>
              <a:rPr lang="en-US" sz="2200" dirty="0">
                <a:latin typeface="Times New Roman" panose="02020603050405020304" pitchFamily="18" charset="0"/>
              </a:rPr>
              <a:t>Converts raw binary executables into analyzable forms using the RetDec decompiler. Extracts assembly code and pseudocode at the function level for each binary across compiler (GCC, Clang), optimization level (O0-Os), and architecture (x86, ARM32, ARM64, MIPS32, x64) combinations.</a:t>
            </a:r>
          </a:p>
          <a:p>
            <a:endParaRPr lang="en-US" sz="2200" dirty="0">
              <a:latin typeface="Times New Roman" panose="02020603050405020304" pitchFamily="18" charset="0"/>
            </a:endParaRPr>
          </a:p>
          <a:p>
            <a:r>
              <a:rPr lang="en-US" sz="2200" b="1" dirty="0">
                <a:solidFill>
                  <a:srgbClr val="1F5C99"/>
                </a:solidFill>
                <a:latin typeface="Times New Roman" panose="02020603050405020304" pitchFamily="18" charset="0"/>
              </a:rPr>
              <a:t>Module 2: Binary-Source Matching</a:t>
            </a:r>
          </a:p>
          <a:p>
            <a:r>
              <a:rPr lang="en-US" sz="2200" dirty="0">
                <a:latin typeface="Times New Roman" panose="02020603050405020304" pitchFamily="18" charset="0"/>
              </a:rPr>
              <a:t>Matches each binary function with its source code using component name and function name pairing from open-source projects (Curl, ClamAV, Nmap, Unrar, Zlib). Creates (assembly, pseudocode, source code) triples used for LLM fine-tuning data selection.</a:t>
            </a:r>
          </a:p>
          <a:p>
            <a:endParaRPr lang="en-US" sz="2200" dirty="0">
              <a:latin typeface="Times New Roman" panose="02020603050405020304" pitchFamily="18" charset="0"/>
            </a:endParaRPr>
          </a:p>
          <a:p>
            <a:endParaRPr lang="en-US" sz="1400" dirty="0">
              <a:latin typeface="Times New Roman" panose="02020603050405020304" pitchFamily="18" charset="0"/>
            </a:endParaRPr>
          </a:p>
        </p:txBody>
      </p:sp>
    </p:spTree>
    <p:extLst>
      <p:ext uri="{BB962C8B-B14F-4D97-AF65-F5344CB8AC3E}">
        <p14:creationId xmlns:p14="http://schemas.microsoft.com/office/powerpoint/2010/main" val="3969207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2">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2">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3">
            <a:alphaModFix/>
          </a:blip>
          <a:srcRect/>
          <a:stretch/>
        </p:blipFill>
        <p:spPr>
          <a:xfrm>
            <a:off x="8382000" y="47625"/>
            <a:ext cx="731838" cy="714375"/>
          </a:xfrm>
          <a:prstGeom prst="rect">
            <a:avLst/>
          </a:prstGeom>
          <a:noFill/>
          <a:ln>
            <a:noFill/>
          </a:ln>
        </p:spPr>
      </p:pic>
      <p:sp>
        <p:nvSpPr>
          <p:cNvPr id="142" name="Google Shape;142;p2"/>
          <p:cNvSpPr txBox="1"/>
          <p:nvPr/>
        </p:nvSpPr>
        <p:spPr>
          <a:xfrm>
            <a:off x="1221696" y="679300"/>
            <a:ext cx="700314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Definition and Description of Modules  </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205127" y="1348451"/>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400" dirty="0">
              <a:latin typeface="Times New Roman" panose="02020603050405020304" pitchFamily="18" charset="0"/>
            </a:endParaRPr>
          </a:p>
        </p:txBody>
      </p:sp>
      <p:sp>
        <p:nvSpPr>
          <p:cNvPr id="4" name="TextBox 3">
            <a:extLst>
              <a:ext uri="{FF2B5EF4-FFF2-40B4-BE49-F238E27FC236}">
                <a16:creationId xmlns:a16="http://schemas.microsoft.com/office/drawing/2014/main" id="{F4E26488-0C7B-6F69-991C-EAAB7AC2228D}"/>
              </a:ext>
            </a:extLst>
          </p:cNvPr>
          <p:cNvSpPr txBox="1"/>
          <p:nvPr/>
        </p:nvSpPr>
        <p:spPr>
          <a:xfrm>
            <a:off x="331787" y="1348451"/>
            <a:ext cx="8050213" cy="5509200"/>
          </a:xfrm>
          <a:prstGeom prst="rect">
            <a:avLst/>
          </a:prstGeom>
          <a:noFill/>
        </p:spPr>
        <p:txBody>
          <a:bodyPr wrap="square">
            <a:spAutoFit/>
          </a:bodyPr>
          <a:lstStyle/>
          <a:p>
            <a:r>
              <a:rPr lang="en-US" sz="2200" b="1" dirty="0">
                <a:solidFill>
                  <a:srgbClr val="1F5C99"/>
                </a:solidFill>
                <a:latin typeface="Times New Roman" panose="02020603050405020304" pitchFamily="18" charset="0"/>
              </a:rPr>
              <a:t>Module 3: Fine-Tuning Data Selection</a:t>
            </a:r>
          </a:p>
          <a:p>
            <a:r>
              <a:rPr lang="en-US" sz="2200" dirty="0">
                <a:latin typeface="Times New Roman" panose="02020603050405020304" pitchFamily="18" charset="0"/>
              </a:rPr>
              <a:t>GPT-4o scores each (assembly, pseudocode, source) triple on 5 dimensions: semantic correspondence, code structure, implementation quality, completeness, and self-containment. Triples scoring above 90 are selected, capped at k=1500 samples with balanced architecture/compiler/optimization coverage.</a:t>
            </a:r>
          </a:p>
          <a:p>
            <a:endParaRPr lang="en-US" sz="2200" dirty="0">
              <a:latin typeface="Times New Roman" panose="02020603050405020304" pitchFamily="18" charset="0"/>
            </a:endParaRPr>
          </a:p>
          <a:p>
            <a:r>
              <a:rPr lang="en-US" sz="2200" b="1" dirty="0">
                <a:solidFill>
                  <a:srgbClr val="1F5C99"/>
                </a:solidFill>
                <a:latin typeface="Times New Roman" panose="02020603050405020304" pitchFamily="18" charset="0"/>
              </a:rPr>
              <a:t>Module 4: LLM Fine-Tuning using </a:t>
            </a:r>
            <a:r>
              <a:rPr lang="en-US" sz="2200" b="1" dirty="0" err="1">
                <a:solidFill>
                  <a:srgbClr val="1F5C99"/>
                </a:solidFill>
                <a:latin typeface="Times New Roman" panose="02020603050405020304" pitchFamily="18" charset="0"/>
              </a:rPr>
              <a:t>LoRA</a:t>
            </a:r>
            <a:endParaRPr lang="en-US" sz="2200" b="1" dirty="0">
              <a:solidFill>
                <a:srgbClr val="1F5C99"/>
              </a:solidFill>
              <a:latin typeface="Times New Roman" panose="02020603050405020304" pitchFamily="18" charset="0"/>
            </a:endParaRPr>
          </a:p>
          <a:p>
            <a:r>
              <a:rPr lang="en-US" sz="2200" dirty="0">
                <a:latin typeface="Times New Roman" panose="02020603050405020304" pitchFamily="18" charset="0"/>
              </a:rPr>
              <a:t>Fine-tunes Qwen-14B using Low-Rank Adaptation (</a:t>
            </a:r>
            <a:r>
              <a:rPr lang="en-US" sz="2200" dirty="0" err="1">
                <a:latin typeface="Times New Roman" panose="02020603050405020304" pitchFamily="18" charset="0"/>
              </a:rPr>
              <a:t>LoRA</a:t>
            </a:r>
            <a:r>
              <a:rPr lang="en-US" sz="2200" dirty="0">
                <a:latin typeface="Times New Roman" panose="02020603050405020304" pitchFamily="18" charset="0"/>
              </a:rPr>
              <a:t>) to convert </a:t>
            </a:r>
            <a:r>
              <a:rPr lang="en-US" sz="2200" dirty="0" err="1">
                <a:latin typeface="Times New Roman" panose="02020603050405020304" pitchFamily="18" charset="0"/>
              </a:rPr>
              <a:t>assembly+pseudocode</a:t>
            </a:r>
            <a:r>
              <a:rPr lang="en-US" sz="2200" dirty="0">
                <a:latin typeface="Times New Roman" panose="02020603050405020304" pitchFamily="18" charset="0"/>
              </a:rPr>
              <a:t> into source code. Two low-rank matrices WA and WB are introduced so the weight update is: W + </a:t>
            </a:r>
            <a:r>
              <a:rPr lang="en-US" sz="2200" dirty="0" err="1">
                <a:latin typeface="Times New Roman" panose="02020603050405020304" pitchFamily="18" charset="0"/>
              </a:rPr>
              <a:t>DeltaW</a:t>
            </a:r>
            <a:r>
              <a:rPr lang="en-US" sz="2200" dirty="0">
                <a:latin typeface="Times New Roman" panose="02020603050405020304" pitchFamily="18" charset="0"/>
              </a:rPr>
              <a:t> = W + WB*WA. Base weights are frozen; only WA and WB are trained, reducing cost while preserving performance.</a:t>
            </a:r>
          </a:p>
          <a:p>
            <a:endParaRPr lang="en-US" sz="2200" dirty="0">
              <a:latin typeface="Times New Roman" panose="02020603050405020304" pitchFamily="18" charset="0"/>
            </a:endParaRPr>
          </a:p>
          <a:p>
            <a:endParaRPr lang="en-US" sz="2200" dirty="0">
              <a:latin typeface="Times New Roman" panose="02020603050405020304" pitchFamily="18" charset="0"/>
            </a:endParaRPr>
          </a:p>
          <a:p>
            <a:endParaRPr lang="en-US" sz="2200" dirty="0">
              <a:latin typeface="Times New Roman" panose="02020603050405020304" pitchFamily="18" charset="0"/>
            </a:endParaRPr>
          </a:p>
        </p:txBody>
      </p:sp>
    </p:spTree>
    <p:extLst>
      <p:ext uri="{BB962C8B-B14F-4D97-AF65-F5344CB8AC3E}">
        <p14:creationId xmlns:p14="http://schemas.microsoft.com/office/powerpoint/2010/main" val="3969207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6065C68E-4A5D-5E80-8DE6-B8E03F1344A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B6F69B23-4E76-F324-C0B1-D8C1C12C4BF1}"/>
              </a:ext>
            </a:extLst>
          </p:cNvPr>
          <p:cNvPicPr preferRelativeResize="0"/>
          <p:nvPr/>
        </p:nvPicPr>
        <p:blipFill rotWithShape="1">
          <a:blip r:embed="rId2">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B399B4C-FBD5-DB9F-9AA6-0A416D5521C3}"/>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CA30ACB8-245B-AE01-838C-10A026C06F27}"/>
              </a:ext>
            </a:extLst>
          </p:cNvPr>
          <p:cNvPicPr preferRelativeResize="0"/>
          <p:nvPr/>
        </p:nvPicPr>
        <p:blipFill rotWithShape="1">
          <a:blip r:embed="rId2">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2CD6E2E-3C2F-8C20-DFD4-2B57DAAC008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2E1DB578-9CA0-2E02-3783-AE593AD8C770}"/>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6E72D70D-0124-322A-8951-0B6C0E1E852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BE8DBE3-1FEE-F077-AAF9-EABC5C68D0F1}"/>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a:extLst>
              <a:ext uri="{FF2B5EF4-FFF2-40B4-BE49-F238E27FC236}">
                <a16:creationId xmlns:a16="http://schemas.microsoft.com/office/drawing/2014/main" id="{8848DADA-3665-AD29-122C-35EA0BB5688A}"/>
              </a:ext>
            </a:extLst>
          </p:cNvPr>
          <p:cNvPicPr preferRelativeResize="0"/>
          <p:nvPr/>
        </p:nvPicPr>
        <p:blipFill rotWithShape="1">
          <a:blip r:embed="rId3">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01F1E0A-5FA0-4CE0-4DC1-11008878D8CC}"/>
              </a:ext>
            </a:extLst>
          </p:cNvPr>
          <p:cNvSpPr txBox="1"/>
          <p:nvPr/>
        </p:nvSpPr>
        <p:spPr>
          <a:xfrm>
            <a:off x="1221696" y="679300"/>
            <a:ext cx="700314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Definition and Description of Modules  </a:t>
            </a:r>
          </a:p>
        </p:txBody>
      </p:sp>
      <p:sp>
        <p:nvSpPr>
          <p:cNvPr id="3" name="Content Placeholder 4">
            <a:extLst>
              <a:ext uri="{FF2B5EF4-FFF2-40B4-BE49-F238E27FC236}">
                <a16:creationId xmlns:a16="http://schemas.microsoft.com/office/drawing/2014/main" id="{4A5EBA61-185D-1AC0-0311-56EBE9A4ABE1}"/>
              </a:ext>
            </a:extLst>
          </p:cNvPr>
          <p:cNvSpPr txBox="1">
            <a:spLocks noChangeArrowheads="1"/>
          </p:cNvSpPr>
          <p:nvPr/>
        </p:nvSpPr>
        <p:spPr>
          <a:xfrm>
            <a:off x="205127" y="1348451"/>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400" dirty="0">
              <a:latin typeface="Times New Roman" panose="02020603050405020304" pitchFamily="18" charset="0"/>
            </a:endParaRPr>
          </a:p>
          <a:p>
            <a:r>
              <a:rPr lang="en-US" sz="2200" b="1" dirty="0">
                <a:solidFill>
                  <a:srgbClr val="1F5C99"/>
                </a:solidFill>
                <a:latin typeface="Times New Roman" panose="02020603050405020304" pitchFamily="18" charset="0"/>
              </a:rPr>
              <a:t>Module 5: Similarity Detection</a:t>
            </a:r>
          </a:p>
          <a:p>
            <a:r>
              <a:rPr lang="en-US" sz="2200" dirty="0">
                <a:latin typeface="Times New Roman" panose="02020603050405020304" pitchFamily="18" charset="0"/>
              </a:rPr>
              <a:t>The fine-tuned LLM converts query and target binary functions into source code. Cosine similarity is computed using bag-of-words token vectors. Jaccard similarity is computed from key element sets (function names, parameters, operators, return values). Final score combines both: Score = 0.5 * (0.5*(Sim_cos+1) + </a:t>
            </a:r>
            <a:r>
              <a:rPr lang="en-US" sz="2200" dirty="0" err="1">
                <a:latin typeface="Times New Roman" panose="02020603050405020304" pitchFamily="18" charset="0"/>
              </a:rPr>
              <a:t>Sim_jac</a:t>
            </a:r>
            <a:r>
              <a:rPr lang="en-US" sz="2200" dirty="0">
                <a:latin typeface="Times New Roman" panose="02020603050405020304" pitchFamily="18" charset="0"/>
              </a:rPr>
              <a:t>).</a:t>
            </a:r>
          </a:p>
          <a:p>
            <a:endParaRPr lang="en-US" sz="2200" dirty="0">
              <a:latin typeface="Times New Roman" panose="02020603050405020304" pitchFamily="18" charset="0"/>
            </a:endParaRPr>
          </a:p>
          <a:p>
            <a:endParaRPr lang="en-US" sz="2200" dirty="0">
              <a:latin typeface="Times New Roman" panose="02020603050405020304" pitchFamily="18" charset="0"/>
            </a:endParaRPr>
          </a:p>
          <a:p>
            <a:r>
              <a:rPr lang="en-US" sz="2200" b="1" dirty="0">
                <a:solidFill>
                  <a:srgbClr val="1F5C99"/>
                </a:solidFill>
                <a:latin typeface="Times New Roman" panose="02020603050405020304" pitchFamily="18" charset="0"/>
              </a:rPr>
              <a:t>Module 6: Vulnerable Function Search</a:t>
            </a:r>
          </a:p>
          <a:p>
            <a:r>
              <a:rPr lang="en-US" sz="2200" dirty="0">
                <a:latin typeface="Times New Roman" panose="02020603050405020304" pitchFamily="18" charset="0"/>
              </a:rPr>
              <a:t>Searches real-world IoT firmware (Netgear R7000, TP-Link Deco M4) for known vulnerable functions using CVE query functions. Supports both binary-to-binary and binary-to-source comparison. Achieves Recall@1 of 0.82 (XA), 0.83 (XC), 0.93 (XO), 0.81 (XM) outperforming all baselines.</a:t>
            </a:r>
          </a:p>
          <a:p>
            <a:endParaRPr lang="en-US" sz="1400" dirty="0">
              <a:latin typeface="Times New Roman" panose="02020603050405020304" pitchFamily="18" charset="0"/>
            </a:endParaRPr>
          </a:p>
        </p:txBody>
      </p:sp>
    </p:spTree>
    <p:extLst>
      <p:ext uri="{BB962C8B-B14F-4D97-AF65-F5344CB8AC3E}">
        <p14:creationId xmlns:p14="http://schemas.microsoft.com/office/powerpoint/2010/main" val="1215052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2">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2">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3">
            <a:alphaModFix/>
          </a:blip>
          <a:srcRect/>
          <a:stretch/>
        </p:blipFill>
        <p:spPr>
          <a:xfrm>
            <a:off x="8382000" y="47625"/>
            <a:ext cx="731838" cy="714375"/>
          </a:xfrm>
          <a:prstGeom prst="rect">
            <a:avLst/>
          </a:prstGeom>
          <a:noFill/>
          <a:ln>
            <a:noFill/>
          </a:ln>
        </p:spPr>
      </p:pic>
      <p:sp>
        <p:nvSpPr>
          <p:cNvPr id="142" name="Google Shape;142;p2"/>
          <p:cNvSpPr txBox="1"/>
          <p:nvPr/>
        </p:nvSpPr>
        <p:spPr>
          <a:xfrm>
            <a:off x="1221696" y="679300"/>
            <a:ext cx="700314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Algorithm / Pseudocode for Proposed Technique</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205127" y="1494118"/>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100" b="1" dirty="0">
                <a:solidFill>
                  <a:srgbClr val="1F5C99"/>
                </a:solidFill>
                <a:latin typeface="Times New Roman" panose="02020603050405020304" pitchFamily="18" charset="0"/>
                <a:cs typeface="Times New Roman" panose="02020603050405020304" pitchFamily="18" charset="0"/>
              </a:rPr>
              <a:t>Algorithm: Binary Code Similarity Detection</a:t>
            </a:r>
          </a:p>
          <a:p>
            <a:r>
              <a:rPr lang="en-US" sz="1700" b="1" dirty="0">
                <a:solidFill>
                  <a:srgbClr val="006600"/>
                </a:solidFill>
                <a:latin typeface="Times New Roman" panose="02020603050405020304" pitchFamily="18" charset="0"/>
                <a:cs typeface="Times New Roman" panose="02020603050405020304" pitchFamily="18" charset="0"/>
              </a:rPr>
              <a:t>Input:</a:t>
            </a:r>
            <a:r>
              <a:rPr lang="en-US" sz="1700" dirty="0">
                <a:latin typeface="Times New Roman" panose="02020603050405020304" pitchFamily="18" charset="0"/>
                <a:cs typeface="Times New Roman" panose="02020603050405020304" pitchFamily="18" charset="0"/>
              </a:rPr>
              <a:t> Binary files B, Query function Q, Pool P</a:t>
            </a:r>
          </a:p>
          <a:p>
            <a:r>
              <a:rPr lang="en-US" sz="1700" b="1" dirty="0">
                <a:solidFill>
                  <a:srgbClr val="006600"/>
                </a:solidFill>
                <a:latin typeface="Times New Roman" panose="02020603050405020304" pitchFamily="18" charset="0"/>
                <a:cs typeface="Times New Roman" panose="02020603050405020304" pitchFamily="18" charset="0"/>
              </a:rPr>
              <a:t>Output:</a:t>
            </a:r>
            <a:r>
              <a:rPr lang="en-US" sz="1700" dirty="0">
                <a:latin typeface="Times New Roman" panose="02020603050405020304" pitchFamily="18" charset="0"/>
                <a:cs typeface="Times New Roman" panose="02020603050405020304" pitchFamily="18" charset="0"/>
              </a:rPr>
              <a:t> Top-K targets ranked by similarity score</a:t>
            </a:r>
          </a:p>
          <a:p>
            <a:r>
              <a:rPr lang="en-US" sz="1700" b="1" dirty="0">
                <a:solidFill>
                  <a:srgbClr val="990000"/>
                </a:solidFill>
                <a:latin typeface="Times New Roman" panose="02020603050405020304" pitchFamily="18" charset="0"/>
                <a:cs typeface="Times New Roman" panose="02020603050405020304" pitchFamily="18" charset="0"/>
              </a:rPr>
              <a:t>// Phase 1: Binary Representation</a:t>
            </a:r>
          </a:p>
          <a:p>
            <a:r>
              <a:rPr lang="en-US" sz="1700" dirty="0">
                <a:latin typeface="Times New Roman" panose="02020603050405020304" pitchFamily="18" charset="0"/>
                <a:cs typeface="Times New Roman" panose="02020603050405020304" pitchFamily="18" charset="0"/>
              </a:rPr>
              <a:t>For each binary file b in B:</a:t>
            </a:r>
          </a:p>
          <a:p>
            <a:r>
              <a:rPr lang="en-US" sz="1700" dirty="0">
                <a:latin typeface="Times New Roman" panose="02020603050405020304" pitchFamily="18" charset="0"/>
                <a:cs typeface="Times New Roman" panose="02020603050405020304" pitchFamily="18" charset="0"/>
              </a:rPr>
              <a:t>    A = Disassemble(b)    // Assembly via RetDec</a:t>
            </a:r>
          </a:p>
          <a:p>
            <a:r>
              <a:rPr lang="en-US" sz="1700" dirty="0">
                <a:latin typeface="Times New Roman" panose="02020603050405020304" pitchFamily="18" charset="0"/>
                <a:cs typeface="Times New Roman" panose="02020603050405020304" pitchFamily="18" charset="0"/>
              </a:rPr>
              <a:t>    P = Pseudocode(A)     // C-like IR via RetDec</a:t>
            </a:r>
          </a:p>
          <a:p>
            <a:r>
              <a:rPr lang="en-US" sz="1700" dirty="0">
                <a:latin typeface="Times New Roman" panose="02020603050405020304" pitchFamily="18" charset="0"/>
                <a:cs typeface="Times New Roman" panose="02020603050405020304" pitchFamily="18" charset="0"/>
              </a:rPr>
              <a:t>    S = ParseSource(b)    // Matched source code</a:t>
            </a:r>
          </a:p>
          <a:p>
            <a:r>
              <a:rPr lang="en-US" sz="1700" b="1" dirty="0">
                <a:solidFill>
                  <a:srgbClr val="990000"/>
                </a:solidFill>
                <a:latin typeface="Times New Roman" panose="02020603050405020304" pitchFamily="18" charset="0"/>
                <a:cs typeface="Times New Roman" panose="02020603050405020304" pitchFamily="18" charset="0"/>
              </a:rPr>
              <a:t>// Phase 2: LoRA Fine-Tuning</a:t>
            </a:r>
          </a:p>
          <a:p>
            <a:r>
              <a:rPr lang="en-US" sz="1700" dirty="0">
                <a:latin typeface="Times New Roman" panose="02020603050405020304" pitchFamily="18" charset="0"/>
                <a:cs typeface="Times New Roman" panose="02020603050405020304" pitchFamily="18" charset="0"/>
              </a:rPr>
              <a:t>Select triples (A,P,S) with GPT4o_score &gt;= 90</a:t>
            </a:r>
          </a:p>
          <a:p>
            <a:r>
              <a:rPr lang="en-US" sz="1700" dirty="0">
                <a:latin typeface="Times New Roman" panose="02020603050405020304" pitchFamily="18" charset="0"/>
                <a:cs typeface="Times New Roman" panose="02020603050405020304" pitchFamily="18" charset="0"/>
              </a:rPr>
              <a:t>Fine-tune LLM: h = W*x + WB*WA*x  (freeze W)</a:t>
            </a:r>
          </a:p>
          <a:p>
            <a:r>
              <a:rPr lang="en-US" sz="1700" b="1" dirty="0">
                <a:solidFill>
                  <a:srgbClr val="990000"/>
                </a:solidFill>
                <a:latin typeface="Times New Roman" panose="02020603050405020304" pitchFamily="18" charset="0"/>
                <a:cs typeface="Times New Roman" panose="02020603050405020304" pitchFamily="18" charset="0"/>
              </a:rPr>
              <a:t>// Phase 3: Similarity Scoring</a:t>
            </a:r>
          </a:p>
          <a:p>
            <a:r>
              <a:rPr lang="en-US" sz="1700" dirty="0">
                <a:latin typeface="Times New Roman" panose="02020603050405020304" pitchFamily="18" charset="0"/>
                <a:cs typeface="Times New Roman" panose="02020603050405020304" pitchFamily="18" charset="0"/>
              </a:rPr>
              <a:t>ST_Q = FineTunedLLM(Q)   // Convert query to source</a:t>
            </a:r>
          </a:p>
          <a:p>
            <a:r>
              <a:rPr lang="en-US" sz="1700" dirty="0">
                <a:latin typeface="Times New Roman" panose="02020603050405020304" pitchFamily="18" charset="0"/>
                <a:cs typeface="Times New Roman" panose="02020603050405020304" pitchFamily="18" charset="0"/>
              </a:rPr>
              <a:t>For each T in Pool:</a:t>
            </a:r>
          </a:p>
          <a:p>
            <a:r>
              <a:rPr lang="en-US" sz="1700" dirty="0">
                <a:latin typeface="Times New Roman" panose="02020603050405020304" pitchFamily="18" charset="0"/>
                <a:cs typeface="Times New Roman" panose="02020603050405020304" pitchFamily="18" charset="0"/>
              </a:rPr>
              <a:t>    ST_T = FineTunedLLM(T)</a:t>
            </a:r>
          </a:p>
          <a:p>
            <a:r>
              <a:rPr lang="en-US" sz="1700" dirty="0">
                <a:latin typeface="Times New Roman" panose="02020603050405020304" pitchFamily="18" charset="0"/>
                <a:cs typeface="Times New Roman" panose="02020603050405020304" pitchFamily="18" charset="0"/>
              </a:rPr>
              <a:t>    Sim_cos = dot(v_Q,v_T)/(|v_Q|*|v_T|)</a:t>
            </a:r>
          </a:p>
          <a:p>
            <a:r>
              <a:rPr lang="en-US" sz="1700" dirty="0">
                <a:latin typeface="Times New Roman" panose="02020603050405020304" pitchFamily="18" charset="0"/>
                <a:cs typeface="Times New Roman" panose="02020603050405020304" pitchFamily="18" charset="0"/>
              </a:rPr>
              <a:t>    Sim_jac = |b_Q inter b_T| / |b_Q union b_T|</a:t>
            </a:r>
          </a:p>
          <a:p>
            <a:r>
              <a:rPr lang="en-US" sz="1700" b="1" dirty="0">
                <a:solidFill>
                  <a:srgbClr val="006600"/>
                </a:solidFill>
                <a:latin typeface="Times New Roman" panose="02020603050405020304" pitchFamily="18" charset="0"/>
                <a:cs typeface="Times New Roman" panose="02020603050405020304" pitchFamily="18" charset="0"/>
              </a:rPr>
              <a:t>    </a:t>
            </a:r>
            <a:r>
              <a:rPr lang="en-US" sz="1700" dirty="0">
                <a:solidFill>
                  <a:schemeClr val="tx1"/>
                </a:solidFill>
                <a:latin typeface="Times New Roman" panose="02020603050405020304" pitchFamily="18" charset="0"/>
                <a:cs typeface="Times New Roman" panose="02020603050405020304" pitchFamily="18" charset="0"/>
              </a:rPr>
              <a:t>Score = 0.5*(0.5*(Sim_cos+1) + Sim_jac)</a:t>
            </a:r>
          </a:p>
          <a:p>
            <a:r>
              <a:rPr lang="en-US" sz="1700" dirty="0">
                <a:latin typeface="Times New Roman" panose="02020603050405020304" pitchFamily="18" charset="0"/>
                <a:cs typeface="Times New Roman" panose="02020603050405020304" pitchFamily="18" charset="0"/>
              </a:rPr>
              <a:t>Return top-K targets ranked by Score</a:t>
            </a:r>
          </a:p>
          <a:p>
            <a:endParaRPr lang="en-US" sz="1400" dirty="0">
              <a:latin typeface="Times New Roman" panose="02020603050405020304" pitchFamily="18" charset="0"/>
            </a:endParaRPr>
          </a:p>
        </p:txBody>
      </p:sp>
    </p:spTree>
    <p:extLst>
      <p:ext uri="{BB962C8B-B14F-4D97-AF65-F5344CB8AC3E}">
        <p14:creationId xmlns:p14="http://schemas.microsoft.com/office/powerpoint/2010/main" val="39692071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221696" y="679300"/>
            <a:ext cx="700314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REFERENCES</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205127" y="2216649"/>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altLang="en-US" sz="2400" dirty="0">
                <a:solidFill>
                  <a:srgbClr val="3333FF"/>
                </a:solidFill>
                <a:latin typeface="Times New Roman" panose="02020603050405020304" pitchFamily="18" charset="0"/>
                <a:cs typeface="Times New Roman" panose="02020603050405020304" pitchFamily="18" charset="0"/>
              </a:rPr>
              <a:t>https://ieeexplore.ieee.org/document/11032086</a:t>
            </a:r>
          </a:p>
          <a:p>
            <a:pPr lvl="1" algn="just"/>
            <a:endParaRPr lang="en-IN" sz="2400" dirty="0">
              <a:latin typeface="Times New Roman" panose="02020603050405020304" pitchFamily="18" charset="0"/>
              <a:cs typeface="Times New Roman" panose="02020603050405020304" pitchFamily="18" charset="0"/>
            </a:endParaRPr>
          </a:p>
          <a:p>
            <a:pPr lvl="1" algn="just"/>
            <a:r>
              <a:rPr lang="en-IN" sz="2400" dirty="0" err="1">
                <a:latin typeface="Times New Roman" panose="02020603050405020304" pitchFamily="18" charset="0"/>
                <a:cs typeface="Times New Roman" panose="02020603050405020304" pitchFamily="18" charset="0"/>
              </a:rPr>
              <a:t>Bangrui</a:t>
            </a:r>
            <a:r>
              <a:rPr lang="en-IN" sz="2400" dirty="0">
                <a:latin typeface="Times New Roman" panose="02020603050405020304" pitchFamily="18" charset="0"/>
                <a:cs typeface="Times New Roman" panose="02020603050405020304" pitchFamily="18" charset="0"/>
              </a:rPr>
              <a:t> Wan , Shiyu Wang, Zheng Wei, </a:t>
            </a:r>
            <a:r>
              <a:rPr lang="en-IN" sz="2400" dirty="0" err="1">
                <a:latin typeface="Times New Roman" panose="02020603050405020304" pitchFamily="18" charset="0"/>
                <a:cs typeface="Times New Roman" panose="02020603050405020304" pitchFamily="18" charset="0"/>
              </a:rPr>
              <a:t>Jiangping</a:t>
            </a:r>
            <a:r>
              <a:rPr lang="en-IN" sz="2400" dirty="0">
                <a:latin typeface="Times New Roman" panose="02020603050405020304" pitchFamily="18" charset="0"/>
                <a:cs typeface="Times New Roman" panose="02020603050405020304" pitchFamily="18" charset="0"/>
              </a:rPr>
              <a:t> Huang, and </a:t>
            </a:r>
            <a:r>
              <a:rPr lang="en-IN" sz="2400" dirty="0" err="1">
                <a:latin typeface="Times New Roman" panose="02020603050405020304" pitchFamily="18" charset="0"/>
                <a:cs typeface="Times New Roman" panose="02020603050405020304" pitchFamily="18" charset="0"/>
              </a:rPr>
              <a:t>Chunqiang</a:t>
            </a:r>
            <a:r>
              <a:rPr lang="en-IN" sz="2400" dirty="0">
                <a:latin typeface="Times New Roman" panose="02020603050405020304" pitchFamily="18" charset="0"/>
                <a:cs typeface="Times New Roman" panose="02020603050405020304" pitchFamily="18" charset="0"/>
              </a:rPr>
              <a:t> Hu</a:t>
            </a:r>
            <a:r>
              <a:rPr lang="en-IN" sz="2400" dirty="0"/>
              <a:t> </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Binary Code Similarity Detection via LLM-Based Source Code Conversion</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IEEE INTERNET OF THINGS JOURNAL, VOL. 12, NO. 24, 15 DECEMBER 2025 </a:t>
            </a:r>
            <a:endParaRPr lang="en-IN" altLang="en-US" sz="2400" dirty="0">
              <a:latin typeface="Times New Roman" panose="02020603050405020304" pitchFamily="18" charset="0"/>
              <a:cs typeface="Times New Roman" panose="02020603050405020304" pitchFamily="18" charset="0"/>
            </a:endParaRPr>
          </a:p>
          <a:p>
            <a:pPr>
              <a:spcBef>
                <a:spcPct val="0"/>
              </a:spcBef>
              <a:tabLst>
                <a:tab pos="520700" algn="l"/>
              </a:tabLst>
            </a:pP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9207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  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070429" y="2844265"/>
            <a:ext cx="700314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1" i="0" u="none" strike="noStrike" cap="none" dirty="0">
                <a:solidFill>
                  <a:schemeClr val="dk1"/>
                </a:solidFill>
                <a:latin typeface="Times New Roman"/>
                <a:ea typeface="Times New Roman"/>
                <a:cs typeface="Times New Roman"/>
                <a:sym typeface="Times New Roman"/>
              </a:rPr>
              <a:t>THANK YOU</a:t>
            </a:r>
          </a:p>
        </p:txBody>
      </p:sp>
    </p:spTree>
    <p:extLst>
      <p:ext uri="{BB962C8B-B14F-4D97-AF65-F5344CB8AC3E}">
        <p14:creationId xmlns:p14="http://schemas.microsoft.com/office/powerpoint/2010/main" val="1566823036"/>
      </p:ext>
    </p:extLst>
  </p:cSld>
  <p:clrMapOvr>
    <a:masterClrMapping/>
  </p:clrMapOvr>
</p:sld>
</file>

<file path=ppt/theme/theme1.xml><?xml version="1.0" encoding="utf-8"?>
<a:theme xmlns:a="http://schemas.openxmlformats.org/drawingml/2006/main" name="Presentation1">
  <a:themeElements>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2853</TotalTime>
  <Words>3617</Words>
  <Application>Microsoft Office PowerPoint</Application>
  <PresentationFormat>On-screen Show (4:3)</PresentationFormat>
  <Paragraphs>500</Paragraphs>
  <Slides>38</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Arial Rounded</vt:lpstr>
      <vt:lpstr>Calibri</vt:lpstr>
      <vt:lpstr>Comic Sans MS</vt:lpstr>
      <vt:lpstr>Times New Roman</vt:lpstr>
      <vt:lpstr>Presentation1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Harihara sudhan Ravi</dc:creator>
  <cp:lastModifiedBy>Akash kalimuthu</cp:lastModifiedBy>
  <cp:revision>107</cp:revision>
  <dcterms:created xsi:type="dcterms:W3CDTF">2022-07-10T04:10:14Z</dcterms:created>
  <dcterms:modified xsi:type="dcterms:W3CDTF">2026-03-29T15:50:14Z</dcterms:modified>
</cp:coreProperties>
</file>